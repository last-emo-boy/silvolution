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>
                <a:solidFill>
                  <a:srgbClr val="ECECE6"/>
                </a:solidFill>
              </a:rPr>
              <a:t>32 阶 FIR · XC7S50 · ≥250 MHz, ≤8 DSP · Fmax/轮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Fmax (MHz)</c:v>
                </c:pt>
              </c:strCache>
            </c:strRef>
          </c:tx>
          <c:spPr>
            <a:ln w="25400">
              <a:solidFill>
                <a:srgbClr val="4A90E2"/>
              </a:solidFill>
            </a:ln>
          </c:spPr>
          <c:marker>
            <c:symbol val="circle"/>
            <c:size val="7"/>
            <c:spPr>
              <a:solidFill>
                <a:srgbClr val="4A90E2"/>
              </a:solidFill>
            </c:spPr>
          </c:marker>
          <c:dPt>
            <c:idx val="0"/>
            <c:marker>
              <c:symbol val="circle"/>
              <c:size val="8"/>
              <c:spPr>
                <a:solidFill>
                  <a:srgbClr val="E05252"/>
                </a:solidFill>
              </c:spPr>
            </c:marker>
          </c:dPt>
          <c:dPt>
            <c:idx val="1"/>
            <c:marker>
              <c:symbol val="circle"/>
              <c:size val="8"/>
              <c:spPr>
                <a:solidFill>
                  <a:srgbClr val="E05252"/>
                </a:solidFill>
              </c:spPr>
            </c:marker>
          </c:dPt>
          <c:dPt>
            <c:idx val="2"/>
            <c:marker>
              <c:symbol val="circle"/>
              <c:size val="8"/>
              <c:spPr>
                <a:solidFill>
                  <a:srgbClr val="E05252"/>
                </a:solidFill>
              </c:spPr>
            </c:marker>
          </c:dPt>
          <c:dPt>
            <c:idx val="3"/>
            <c:marker>
              <c:symbol val="circle"/>
              <c:size val="8"/>
              <c:spPr>
                <a:solidFill>
                  <a:srgbClr val="E05252"/>
                </a:solidFill>
              </c:spPr>
            </c:marker>
          </c:dPt>
          <c:dPt>
            <c:idx val="4"/>
            <c:marker>
              <c:symbol val="circle"/>
              <c:size val="8"/>
              <c:spPr>
                <a:solidFill>
                  <a:srgbClr val="E05252"/>
                </a:solidFill>
              </c:spPr>
            </c:marker>
          </c:dPt>
          <c:dPt>
            <c:idx val="5"/>
            <c:marker>
              <c:symbol val="circle"/>
              <c:size val="8"/>
              <c:spPr>
                <a:solidFill>
                  <a:srgbClr val="E05252"/>
                </a:solidFill>
              </c:spPr>
            </c:marker>
          </c:dPt>
          <c:dPt>
            <c:idx val="6"/>
            <c:marker>
              <c:symbol val="circle"/>
              <c:size val="8"/>
              <c:spPr>
                <a:solidFill>
                  <a:srgbClr val="34C759"/>
                </a:solidFill>
              </c:spPr>
            </c:marker>
          </c:dPt>
          <c:cat>
            <c:strRef>
              <c:f>Sheet1!$A$2:$A$8</c:f>
              <c:strCache>
                <c:ptCount val="7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495.5</c:v>
                </c:pt>
                <c:pt idx="1">
                  <c:v>163.1</c:v>
                </c:pt>
                <c:pt idx="2">
                  <c:v>150.0</c:v>
                </c:pt>
                <c:pt idx="3">
                  <c:v>236.6</c:v>
                </c:pt>
                <c:pt idx="4">
                  <c:v>225.5</c:v>
                </c:pt>
                <c:pt idx="5">
                  <c:v>152.1</c:v>
                </c:pt>
                <c:pt idx="6">
                  <c:v>259.1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333331"/>
            </a:solidFill>
          </a:ln>
        </c:spPr>
        <c:txPr>
          <a:bodyPr/>
          <a:lstStyle/>
          <a:p>
            <a:pPr>
              <a:defRPr sz="1000">
                <a:solidFill>
                  <a:srgbClr val="A9A89F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262624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333331"/>
            </a:solidFill>
          </a:ln>
        </c:spPr>
        <c:txPr>
          <a:bodyPr/>
          <a:lstStyle/>
          <a:p>
            <a:pPr>
              <a:defRPr sz="1000">
                <a:solidFill>
                  <a:srgbClr val="A9A89F"/>
                </a:solidFill>
              </a:defRPr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000">
          <a:solidFill>
            <a:srgbClr val="A9A89F"/>
          </a:solidFill>
          <a:latin typeface="PingFang SC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>
                <a:solidFill>
                  <a:srgbClr val="ECECE6"/>
                </a:solidFill>
              </a:rPr>
              <a:t>INT8 matmul · XC7S50 · ≥300 MHz, ≤32 DSP · Fmax/轮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Fmax (MHz)</c:v>
                </c:pt>
              </c:strCache>
            </c:strRef>
          </c:tx>
          <c:dPt>
            <c:idx val="0"/>
            <c:spPr>
              <a:solidFill>
                <a:srgbClr val="E05252"/>
              </a:solidFill>
            </c:spPr>
          </c:dPt>
          <c:dPt>
            <c:idx val="1"/>
            <c:spPr>
              <a:solidFill>
                <a:srgbClr val="D9A21B"/>
              </a:solidFill>
            </c:spPr>
          </c:dPt>
          <c:dPt>
            <c:idx val="2"/>
            <c:spPr>
              <a:solidFill>
                <a:srgbClr val="34C759"/>
              </a:solidFill>
            </c:spPr>
          </c:dPt>
          <c:cat>
            <c:strRef>
              <c:f>Sheet1!$A$2:$A$4</c:f>
              <c:strCache>
                <c:ptCount val="3"/>
                <c:pt idx="0">
                  <c:v>1</c:v>
                </c:pt>
                <c:pt idx="1">
                  <c:v>2</c:v>
                </c:pt>
                <c:pt idx="2">
                  <c:v>3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189.8</c:v>
                </c:pt>
                <c:pt idx="1">
                  <c:v>296.3</c:v>
                </c:pt>
                <c:pt idx="2">
                  <c:v>315.0</c:v>
                </c:pt>
              </c:numCache>
            </c:numRef>
          </c:val>
        </c:ser>
        <c:gapWidth val="12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333331"/>
            </a:solidFill>
          </a:ln>
        </c:spPr>
        <c:txPr>
          <a:bodyPr/>
          <a:lstStyle/>
          <a:p>
            <a:pPr>
              <a:defRPr sz="1000">
                <a:solidFill>
                  <a:srgbClr val="A9A89F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262624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333331"/>
            </a:solidFill>
          </a:ln>
        </c:spPr>
        <c:txPr>
          <a:bodyPr/>
          <a:lstStyle/>
          <a:p>
            <a:pPr>
              <a:defRPr sz="1000">
                <a:solidFill>
                  <a:srgbClr val="A9A89F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000">
          <a:solidFill>
            <a:srgbClr val="A9A89F"/>
          </a:solidFill>
          <a:latin typeface="PingFang SC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>
                <a:solidFill>
                  <a:srgbClr val="ECECE6"/>
                </a:solidFill>
              </a:rPr>
              <a:t>A/B：同一规格（XC7S50 · ≥280 MHz · ≤48 DSP）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首次可行所需轮数</c:v>
                </c:pt>
              </c:strCache>
            </c:strRef>
          </c:tx>
          <c:spPr>
            <a:solidFill>
              <a:srgbClr val="4A90E2"/>
            </a:solidFill>
          </c:spPr>
          <c:cat>
            <c:strRef>
              <c:f>Sheet1!$A$2:$A$3</c:f>
              <c:strCache>
                <c:ptCount val="2"/>
                <c:pt idx="0">
                  <c:v>有记忆</c:v>
                </c:pt>
                <c:pt idx="1">
                  <c:v>无记忆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</c:v>
                </c:pt>
                <c:pt idx="1">
                  <c:v>3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>
                  <a:solidFill>
                    <a:srgbClr val="ECECE6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333331"/>
            </a:solidFill>
          </a:ln>
        </c:spPr>
        <c:txPr>
          <a:bodyPr/>
          <a:lstStyle/>
          <a:p>
            <a:pPr>
              <a:defRPr sz="1000">
                <a:solidFill>
                  <a:srgbClr val="A9A89F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262624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333331"/>
            </a:solidFill>
          </a:ln>
        </c:spPr>
        <c:txPr>
          <a:bodyPr/>
          <a:lstStyle/>
          <a:p>
            <a:pPr>
              <a:defRPr sz="1000">
                <a:solidFill>
                  <a:srgbClr val="A9A89F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000">
          <a:solidFill>
            <a:srgbClr val="A9A89F"/>
          </a:solidFill>
          <a:latin typeface="PingFang SC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031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4A90E2"/>
                </a:solidFill>
                <a:latin typeface="Menlo"/>
              </a:rPr>
              <a:t>▣ silicon-agent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560320"/>
            <a:ext cx="10789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800" b="1">
                <a:solidFill>
                  <a:srgbClr val="ECECE6"/>
                </a:solidFill>
                <a:latin typeface="PingFang SC"/>
              </a:rPr>
              <a:t>一句话，换一份签核过的 Verilog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49039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A9A89F"/>
                </a:solidFill>
                <a:latin typeface="PingFang SC"/>
              </a:rPr>
              <a:t>自然语言 → 架构 IR → RTL → 仿真 → 综合 → 布局布线 → 诊断 → 下一轮，直到时序和资源约束全部满足。
真实 EDA 工具是唯一的 ground truth：没有一个数字是估出来的。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7607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F6E67"/>
                </a:solidFill>
                <a:latin typeface="Menlo"/>
              </a:rPr>
              <a:t>2026-10 · 路演 · w33d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A90E2"/>
                </a:solidFill>
                <a:latin typeface="Menlo"/>
              </a:rPr>
              <a:t>01 · 问题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ECECE6"/>
                </a:solidFill>
                <a:latin typeface="PingFang SC"/>
              </a:rPr>
              <a:t>问题：从「想要一个加速器」到「能跑的 RTL」是几天的人肉循环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▣ silicon-agent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37360"/>
            <a:ext cx="3474720" cy="169164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1901952"/>
            <a:ext cx="30723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CECE6"/>
                </a:solidFill>
                <a:latin typeface="PingFang SC"/>
              </a:rPr>
              <a:t>1  写 RTL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304288"/>
            <a:ext cx="307238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>手写几百行 SystemVerilog，一个流水级改动牵一发动全身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737360"/>
            <a:ext cx="3474720" cy="169164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44568" y="1901952"/>
            <a:ext cx="30723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CECE6"/>
                </a:solidFill>
                <a:latin typeface="PingFang SC"/>
              </a:rPr>
              <a:t>2  写测试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44568" y="2304288"/>
            <a:ext cx="307238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>testbench、golden model、覆盖率，比 RTL 还多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19" y="1737360"/>
            <a:ext cx="3474720" cy="169164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47887" y="1901952"/>
            <a:ext cx="30723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CECE6"/>
                </a:solidFill>
                <a:latin typeface="PingFang SC"/>
              </a:rPr>
              <a:t>3  跑综合 / P&amp;R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47887" y="2304288"/>
            <a:ext cx="307238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>ECP5 30 秒，Vivado 几分钟；每天只能试十几种结构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657600"/>
            <a:ext cx="3474720" cy="169164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3822192"/>
            <a:ext cx="30723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CECE6"/>
                </a:solidFill>
                <a:latin typeface="PingFang SC"/>
              </a:rPr>
              <a:t>4  看时序报告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4224528"/>
            <a:ext cx="307238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>关键路径在哪一级？是乘法器、进位链还是布线？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3400" y="3657600"/>
            <a:ext cx="3474720" cy="169164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44568" y="3822192"/>
            <a:ext cx="30723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CECE6"/>
                </a:solidFill>
                <a:latin typeface="PingFang SC"/>
              </a:rPr>
              <a:t>5  改架构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44568" y="4224528"/>
            <a:ext cx="307238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>折叠、流水、DSP 寄存器配置……经验决定一切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19" y="3657600"/>
            <a:ext cx="3474720" cy="169164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47887" y="3822192"/>
            <a:ext cx="30723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CECE6"/>
                </a:solidFill>
                <a:latin typeface="PingFang SC"/>
              </a:rPr>
              <a:t>6  再来一遍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47887" y="4224528"/>
            <a:ext cx="307238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>一个 FIR 调到 250 MHz 要试 5–10 版本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71500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D9A21B"/>
                </a:solidFill>
                <a:latin typeface="PingFang SC"/>
              </a:rPr>
              <a:t>LLM 直接写 Verilog 并不解决这个问题：它写出来的代码没法保证可综合、可仿真，更不知道自己写的东西在芯片上跑多快。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A90E2"/>
                </a:solidFill>
                <a:latin typeface="Menlo"/>
              </a:rPr>
              <a:t>02 · 核心思路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ECECE6"/>
                </a:solidFill>
                <a:latin typeface="PingFang SC"/>
              </a:rPr>
              <a:t>思路：让 LLM 改「架构」，不让它写「代码」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▣ silicon-agent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45920"/>
            <a:ext cx="3566160" cy="393192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1810512"/>
            <a:ext cx="31638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CECE6"/>
                </a:solidFill>
                <a:latin typeface="PingFang SC"/>
              </a:rPr>
              <a:t>架构 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212848"/>
            <a:ext cx="3163824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>一个不可变的 dataclass，十几个旋钮：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ECECE6"/>
                </a:solidFill>
                <a:latin typeface="Menlo"/>
              </a:rPr>
              <a:t>pe_rows · pe_cols · acc_width · pipe_mul · reg_in · dsp_regs · acc_in_dsp · fold · symmetric …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>LLM 每轮只输出一个新的 IR（JSON）。它不写 RTL，不写 testbench。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645920"/>
            <a:ext cx="3566160" cy="393192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44568" y="1810512"/>
            <a:ext cx="31638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CECE6"/>
                </a:solidFill>
                <a:latin typeface="PingFang SC"/>
              </a:rPr>
              <a:t>确定性生成器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44568" y="2212848"/>
            <a:ext cx="3163824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>IR → SystemVerilog，构造即正确。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>接口是 latency-insensitive 的 valid/ready 流：无论怎么加流水级、折叠，testbench 不用改。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>ECP5：显式例化 MULT18X18D；Spartan-7：行为级 DSP48E1 推断 + 属性控制。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645920"/>
            <a:ext cx="3566160" cy="393192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47888" y="1810512"/>
            <a:ext cx="31638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CECE6"/>
                </a:solidFill>
                <a:latin typeface="PingFang SC"/>
              </a:rPr>
              <a:t>EDA 是 ground truth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47888" y="2212848"/>
            <a:ext cx="3163824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>cocotb + iverilog 对 Python 黄金模型；yosys + nextpnr / Vivado 2025.2 真实布局布线。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>Fmax、LUT、DSP、关键路径逐级分解——全部来自工具报告，喂回 LLM 做诊断。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>约束 = 硬过滤；目标 = 字典序。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4A90E2"/>
                </a:solidFill>
                <a:latin typeface="PingFang SC"/>
              </a:rPr>
              <a:t>结果：LLM 的每一个决定都被真实工具立刻打分；它只能在一个「永远可综合、永远可仿真」的空间里搜索。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A90E2"/>
                </a:solidFill>
                <a:latin typeface="Menlo"/>
              </a:rPr>
              <a:t>03 · 系统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ECECE6"/>
                </a:solidFill>
                <a:latin typeface="PingFang SC"/>
              </a:rPr>
              <a:t>闭环：规划 → 生成 → 仿真 → 综合/P&amp;R → 诊断 → 学习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▣ silicon-agent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03120"/>
            <a:ext cx="1170432" cy="118872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6F6E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square"/>
          <a:lstStyle/>
          <a:p>
            <a:pPr algn="ctr"/>
            <a:r>
              <a:rPr sz="1100" b="1">
                <a:solidFill>
                  <a:srgbClr val="ECECE6"/>
                </a:solidFill>
                <a:latin typeface="PingFang SC"/>
              </a:rPr>
              <a:t>用户</a:t>
            </a:r>
          </a:p>
          <a:p>
            <a:pPr algn="ctr"/>
            <a:r>
              <a:rPr sz="1000" b="0">
                <a:solidFill>
                  <a:srgbClr val="A9A89F"/>
                </a:solidFill>
                <a:latin typeface="PingFang SC"/>
              </a:rPr>
              <a:t>自然语言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00784" y="2560320"/>
            <a:ext cx="137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6F6E67"/>
                </a:solidFill>
                <a:latin typeface="PingFang SC"/>
              </a:rPr>
              <a:t>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810512" y="2103120"/>
            <a:ext cx="1170432" cy="118872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4A9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square"/>
          <a:lstStyle/>
          <a:p>
            <a:pPr algn="ctr"/>
            <a:r>
              <a:rPr sz="1100" b="1">
                <a:solidFill>
                  <a:srgbClr val="ECECE6"/>
                </a:solidFill>
                <a:latin typeface="PingFang SC"/>
              </a:rPr>
              <a:t>nl.interpret</a:t>
            </a:r>
          </a:p>
          <a:p>
            <a:pPr algn="ctr"/>
            <a:r>
              <a:rPr sz="1000" b="0">
                <a:solidFill>
                  <a:srgbClr val="A9A89F"/>
                </a:solidFill>
                <a:latin typeface="PingFang SC"/>
              </a:rPr>
              <a:t>→ 规格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62656" y="2560320"/>
            <a:ext cx="137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6F6E67"/>
                </a:solidFill>
                <a:latin typeface="PingFang SC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072384" y="2103120"/>
            <a:ext cx="1170432" cy="118872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4A9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square"/>
          <a:lstStyle/>
          <a:p>
            <a:pPr algn="ctr"/>
            <a:r>
              <a:rPr sz="1100" b="1">
                <a:solidFill>
                  <a:srgbClr val="ECECE6"/>
                </a:solidFill>
                <a:latin typeface="PingFang SC"/>
              </a:rPr>
              <a:t>规划器</a:t>
            </a:r>
          </a:p>
          <a:p>
            <a:pPr algn="ctr"/>
            <a:r>
              <a:rPr sz="1000" b="0">
                <a:solidFill>
                  <a:srgbClr val="A9A89F"/>
                </a:solidFill>
                <a:latin typeface="PingFang SC"/>
              </a:rPr>
              <a:t>(DeepSeek)</a:t>
            </a:r>
          </a:p>
          <a:p>
            <a:pPr algn="ctr"/>
            <a:r>
              <a:rPr sz="1000" b="0">
                <a:solidFill>
                  <a:srgbClr val="A9A89F"/>
                </a:solidFill>
                <a:latin typeface="PingFang SC"/>
              </a:rPr>
              <a:t>≤3 个候选 IR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24528" y="2560320"/>
            <a:ext cx="137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6F6E67"/>
                </a:solidFill>
                <a:latin typeface="PingFang SC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4256" y="2103120"/>
            <a:ext cx="1170432" cy="118872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D9A2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square"/>
          <a:lstStyle/>
          <a:p>
            <a:pPr algn="ctr"/>
            <a:r>
              <a:rPr sz="1100" b="1">
                <a:solidFill>
                  <a:srgbClr val="ECECE6"/>
                </a:solidFill>
                <a:latin typeface="PingFang SC"/>
              </a:rPr>
              <a:t>筛选</a:t>
            </a:r>
          </a:p>
          <a:p>
            <a:pPr algn="ctr"/>
            <a:r>
              <a:rPr sz="1000" b="0">
                <a:solidFill>
                  <a:srgbClr val="A9A89F"/>
                </a:solidFill>
                <a:latin typeface="PingFang SC"/>
              </a:rPr>
              <a:t>闭式估算 + 校准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0" y="2560320"/>
            <a:ext cx="137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6F6E67"/>
                </a:solidFill>
                <a:latin typeface="PingFang SC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96128" y="2103120"/>
            <a:ext cx="1170432" cy="118872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A9A8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square"/>
          <a:lstStyle/>
          <a:p>
            <a:pPr algn="ctr"/>
            <a:r>
              <a:rPr sz="1100" b="1">
                <a:solidFill>
                  <a:srgbClr val="ECECE6"/>
                </a:solidFill>
                <a:latin typeface="PingFang SC"/>
              </a:rPr>
              <a:t>生成器</a:t>
            </a:r>
          </a:p>
          <a:p>
            <a:pPr algn="ctr"/>
            <a:r>
              <a:rPr sz="1000" b="0">
                <a:solidFill>
                  <a:srgbClr val="A9A89F"/>
                </a:solidFill>
                <a:latin typeface="PingFang SC"/>
              </a:rPr>
              <a:t>IR → SV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48272" y="2560320"/>
            <a:ext cx="137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6F6E67"/>
                </a:solidFill>
                <a:latin typeface="PingFang SC"/>
              </a:rPr>
              <a:t>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0" y="2103120"/>
            <a:ext cx="1170432" cy="118872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4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square"/>
          <a:lstStyle/>
          <a:p>
            <a:pPr algn="ctr"/>
            <a:r>
              <a:rPr sz="1100" b="1">
                <a:solidFill>
                  <a:srgbClr val="ECECE6"/>
                </a:solidFill>
                <a:latin typeface="PingFang SC"/>
              </a:rPr>
              <a:t>仿真阶梯</a:t>
            </a:r>
          </a:p>
          <a:p>
            <a:pPr algn="ctr"/>
            <a:r>
              <a:rPr sz="1000" b="0">
                <a:solidFill>
                  <a:srgbClr val="A9A89F"/>
                </a:solidFill>
                <a:latin typeface="PingFang SC"/>
              </a:rPr>
              <a:t>行为级 … 实现后时序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10144" y="2560320"/>
            <a:ext cx="137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6F6E67"/>
                </a:solidFill>
                <a:latin typeface="PingFang SC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19872" y="2103120"/>
            <a:ext cx="1170432" cy="118872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D959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square"/>
          <a:lstStyle/>
          <a:p>
            <a:pPr algn="ctr"/>
            <a:r>
              <a:rPr sz="1100" b="1">
                <a:solidFill>
                  <a:srgbClr val="ECECE6"/>
                </a:solidFill>
                <a:latin typeface="PingFang SC"/>
              </a:rPr>
              <a:t>综合 + P&amp;R</a:t>
            </a:r>
          </a:p>
          <a:p>
            <a:pPr algn="ctr"/>
            <a:r>
              <a:rPr sz="1000" b="0">
                <a:solidFill>
                  <a:srgbClr val="A9A89F"/>
                </a:solidFill>
                <a:latin typeface="PingFang SC"/>
              </a:rPr>
              <a:t>nextpnr / Vivado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72016" y="2560320"/>
            <a:ext cx="137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6F6E67"/>
                </a:solidFill>
                <a:latin typeface="PingFang SC"/>
              </a:rPr>
              <a:t>›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81744" y="2103120"/>
            <a:ext cx="1170432" cy="118872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E052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square"/>
          <a:lstStyle/>
          <a:p>
            <a:pPr algn="ctr"/>
            <a:r>
              <a:rPr sz="1100" b="1">
                <a:solidFill>
                  <a:srgbClr val="ECECE6"/>
                </a:solidFill>
                <a:latin typeface="PingFang SC"/>
              </a:rPr>
              <a:t>诊断</a:t>
            </a:r>
          </a:p>
          <a:p>
            <a:pPr algn="ctr"/>
            <a:r>
              <a:rPr sz="1000" b="0">
                <a:solidFill>
                  <a:srgbClr val="A9A89F"/>
                </a:solidFill>
                <a:latin typeface="PingFang SC"/>
              </a:rPr>
              <a:t>关键路径分解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33888" y="2560320"/>
            <a:ext cx="137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6F6E67"/>
                </a:solidFill>
                <a:latin typeface="PingFang SC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643616" y="2103120"/>
            <a:ext cx="1170432" cy="118872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4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square"/>
          <a:lstStyle/>
          <a:p>
            <a:pPr algn="ctr"/>
            <a:r>
              <a:rPr sz="1100" b="1">
                <a:solidFill>
                  <a:srgbClr val="ECECE6"/>
                </a:solidFill>
                <a:latin typeface="PingFang SC"/>
              </a:rPr>
              <a:t>设计记忆</a:t>
            </a:r>
          </a:p>
          <a:p>
            <a:pPr algn="ctr"/>
            <a:r>
              <a:rPr sz="1000" b="0">
                <a:solidFill>
                  <a:srgbClr val="A9A89F"/>
                </a:solidFill>
                <a:latin typeface="PingFang SC"/>
              </a:rPr>
              <a:t>经验沉淀 / 召回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77440" y="347472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6F6E67"/>
                </a:solidFill>
                <a:latin typeface="Menlo"/>
              </a:rPr>
              <a:t>◄── 诊断 + 召回的经验 + 用户插话，进入下一轮的规划提示 ──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4023360"/>
            <a:ext cx="109728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>• </a:t>
            </a:r>
            <a:r>
              <a:rPr sz="1300" b="1">
                <a:solidFill>
                  <a:srgbClr val="ECECE6"/>
                </a:solidFill>
                <a:latin typeface="PingFang SC"/>
              </a:rPr>
              <a:t>候选筛选：</a:t>
            </a:r>
            <a:r>
              <a:rPr sz="1300" b="0">
                <a:solidFill>
                  <a:srgbClr val="A9A89F"/>
                </a:solidFill>
                <a:latin typeface="PingFang SC"/>
              </a:rPr>
              <a:t>规划器一次给 ≤3 个方案，闭式估算排序，只有第一名进 EDA；估算用岭回归按历史实测自动校准（matmul/xc7s50 的 LUT 误差 105% → 31%）。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>• </a:t>
            </a:r>
            <a:r>
              <a:rPr sz="1300" b="1">
                <a:solidFill>
                  <a:srgbClr val="ECECE6"/>
                </a:solidFill>
                <a:latin typeface="PingFang SC"/>
              </a:rPr>
              <a:t>锁定字段：</a:t>
            </a:r>
            <a:r>
              <a:rPr sz="1300" b="0">
                <a:solidFill>
                  <a:srgbClr val="A9A89F"/>
                </a:solidFill>
                <a:latin typeface="PingFang SC"/>
              </a:rPr>
              <a:t>data_width / taps / cutoff 是任务定义，规划器不能为了省 LUT 把 INT8 改成 INT4。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>• </a:t>
            </a:r>
            <a:r>
              <a:rPr sz="1300" b="1">
                <a:solidFill>
                  <a:srgbClr val="ECECE6"/>
                </a:solidFill>
                <a:latin typeface="PingFang SC"/>
              </a:rPr>
              <a:t>可插话：</a:t>
            </a:r>
            <a:r>
              <a:rPr sz="1300" b="0">
                <a:solidFill>
                  <a:srgbClr val="A9A89F"/>
                </a:solidFill>
                <a:latin typeface="PingFang SC"/>
              </a:rPr>
              <a:t>运行中用户的一句话会以「工程师指令」进入下一轮提示。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>• </a:t>
            </a:r>
            <a:r>
              <a:rPr sz="1300" b="1">
                <a:solidFill>
                  <a:srgbClr val="ECECE6"/>
                </a:solidFill>
                <a:latin typeface="PingFang SC"/>
              </a:rPr>
              <a:t>可恢复：</a:t>
            </a:r>
            <a:r>
              <a:rPr sz="1300" b="0">
                <a:solidFill>
                  <a:srgbClr val="A9A89F"/>
                </a:solidFill>
                <a:latin typeface="PingFang SC"/>
              </a:rPr>
              <a:t>SIGTERM 时做完当前轮，重启后从 EDA 缓存 + 规划回复缓存零秒重放；部署不丢任务。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A90E2"/>
                </a:solidFill>
                <a:latin typeface="Menlo"/>
              </a:rPr>
              <a:t>04 · 验证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ECECE6"/>
                </a:solidFill>
                <a:latin typeface="PingFang SC"/>
              </a:rPr>
              <a:t>五级仿真阶梯：时序仿真失败也是一种「违反约束」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▣ silicon-agent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37360"/>
            <a:ext cx="10972800" cy="658368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901952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4A90E2"/>
                </a:solidFill>
                <a:latin typeface="Menl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1847088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CECE6"/>
                </a:solidFill>
                <a:latin typeface="PingFang SC"/>
              </a:rPr>
              <a:t>行为级仿真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1901952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9A89F"/>
                </a:solidFill>
                <a:latin typeface="PingFang SC"/>
              </a:rPr>
              <a:t>RTL 逻辑 vs Python 黄金模型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1901952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F6E67"/>
                </a:solidFill>
                <a:latin typeface="Menlo"/>
              </a:rPr>
              <a:t>cocotb + iverilog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20" y="1901952"/>
            <a:ext cx="1371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ECP5 · XC7S50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32304"/>
            <a:ext cx="10972800" cy="658368"/>
          </a:xfrm>
          <a:prstGeom prst="roundRect">
            <a:avLst>
              <a:gd name="adj" fmla="val 6000"/>
            </a:avLst>
          </a:prstGeom>
          <a:solidFill>
            <a:srgbClr val="0E0E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2596896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4A90E2"/>
                </a:solidFill>
                <a:latin typeface="Menlo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2542032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CECE6"/>
                </a:solidFill>
                <a:latin typeface="PingFang SC"/>
              </a:rPr>
              <a:t>综合后功能仿真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2596896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9A89F"/>
                </a:solidFill>
                <a:latin typeface="PingFang SC"/>
              </a:rPr>
              <a:t>综合网表，无延迟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2596896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F6E67"/>
                </a:solidFill>
                <a:latin typeface="Menlo"/>
              </a:rPr>
              <a:t>iverilog(ECP5 网表) / xsim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596896"/>
            <a:ext cx="1371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ECP5 · XC7S50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127248"/>
            <a:ext cx="10972800" cy="658368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291840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4A90E2"/>
                </a:solidFill>
                <a:latin typeface="Menlo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236976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CECE6"/>
                </a:solidFill>
                <a:latin typeface="PingFang SC"/>
              </a:rPr>
              <a:t>综合后时序仿真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31920" y="3291840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9A89F"/>
                </a:solidFill>
                <a:latin typeface="PingFang SC"/>
              </a:rPr>
              <a:t>综合网表 + 估算 SDF 延迟，目标周期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3291840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F6E67"/>
                </a:solidFill>
                <a:latin typeface="Menlo"/>
              </a:rPr>
              <a:t>xsim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32720" y="3291840"/>
            <a:ext cx="1371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XC7S50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3822192"/>
            <a:ext cx="10972800" cy="658368"/>
          </a:xfrm>
          <a:prstGeom prst="roundRect">
            <a:avLst>
              <a:gd name="adj" fmla="val 6000"/>
            </a:avLst>
          </a:prstGeom>
          <a:solidFill>
            <a:srgbClr val="0E0E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3986784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4A90E2"/>
                </a:solidFill>
                <a:latin typeface="Menlo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80160" y="393192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CECE6"/>
                </a:solidFill>
                <a:latin typeface="PingFang SC"/>
              </a:rPr>
              <a:t>实现后功能仿真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31920" y="3986784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9A89F"/>
                </a:solidFill>
                <a:latin typeface="PingFang SC"/>
              </a:rPr>
              <a:t>布线后网表，无延迟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0" y="3986784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F6E67"/>
                </a:solidFill>
                <a:latin typeface="Menlo"/>
              </a:rPr>
              <a:t>xsim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32720" y="3986784"/>
            <a:ext cx="1371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XC7S50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4517136"/>
            <a:ext cx="10972800" cy="658368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4681728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4A90E2"/>
                </a:solidFill>
                <a:latin typeface="Menlo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80160" y="4626864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CECE6"/>
                </a:solidFill>
                <a:latin typeface="PingFang SC"/>
              </a:rPr>
              <a:t>实现后时序仿真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931920" y="4681728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9A89F"/>
                </a:solidFill>
                <a:latin typeface="PingFang SC"/>
              </a:rPr>
              <a:t>布线后网表 + 真实 SDF 延迟，目标周期 — 签核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80" y="4681728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F6E67"/>
                </a:solidFill>
                <a:latin typeface="Menlo"/>
              </a:rPr>
              <a:t>xsim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332720" y="4681728"/>
            <a:ext cx="1371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XC7S50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534924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A9A89F"/>
                </a:solidFill>
                <a:latin typeface="PingFang SC"/>
              </a:rPr>
              <a:t>真实案例：8×8 无流水 INT8 阵列 @ 300 MHz 目标——行为级、综合后/实现后功能仿真全部通过，但 </a:t>
            </a:r>
            <a:r>
              <a:rPr sz="1250" b="1">
                <a:solidFill>
                  <a:srgbClr val="E05252"/>
                </a:solidFill>
                <a:latin typeface="PingFang SC"/>
              </a:rPr>
              <a:t>两级时序仿真失败</a:t>
            </a:r>
            <a:r>
              <a:rPr sz="1250" b="0">
                <a:solidFill>
                  <a:srgbClr val="A9A89F"/>
                </a:solidFill>
                <a:latin typeface="PingFang SC"/>
              </a:rPr>
              <a:t>；规划器据此加 DSP 寄存器后五级全过。</a:t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A9A89F"/>
                </a:solidFill>
                <a:latin typeface="PingFang SC"/>
              </a:rPr>
              <a:t>向量 testbench 复用 cocotb 黄金模型（本版 cocotb 无 xsim VPI）；glbl.GSR 100 ns、负沿驱动 3/4 周期采样、Vivado 2025.2 网表注释多行 os-release 等坑都已踩平。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A90E2"/>
                </a:solidFill>
                <a:latin typeface="Menlo"/>
              </a:rPr>
              <a:t>05 · 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ECECE6"/>
                </a:solidFill>
                <a:latin typeface="PingFang SC"/>
              </a:rPr>
              <a:t>真实结果：7 个任务 · 2 种器件 · 2 类设计，全部由真实 EDA 签核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▣ silicon-agent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F6E67"/>
                </a:solidFill>
                <a:latin typeface="Menlo"/>
              </a:rPr>
              <a:t>任务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169164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F6E67"/>
                </a:solidFill>
                <a:latin typeface="Menlo"/>
              </a:rPr>
              <a:t>器件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169164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F6E67"/>
                </a:solidFill>
                <a:latin typeface="Menlo"/>
              </a:rPr>
              <a:t>约束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0" y="169164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F6E67"/>
                </a:solidFill>
                <a:latin typeface="Menlo"/>
              </a:rPr>
              <a:t>轮数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79" y="169164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F6E67"/>
                </a:solidFill>
                <a:latin typeface="Menlo"/>
              </a:rPr>
              <a:t>最终设计（真实 P&amp;R）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11680"/>
            <a:ext cx="11155680" cy="475488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121408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ECE6"/>
                </a:solidFill>
                <a:latin typeface="PingFang SC"/>
              </a:rPr>
              <a:t>INT8 matmul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17520" y="2139696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A9A89F"/>
                </a:solidFill>
                <a:latin typeface="Menlo"/>
              </a:rPr>
              <a:t>ECP5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2139696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A9A89F"/>
                </a:solidFill>
                <a:latin typeface="Menlo"/>
              </a:rPr>
              <a:t>≥180 MHz · ≤48 DSP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60" y="2121408"/>
            <a:ext cx="731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ECE6"/>
                </a:solidFill>
                <a:latin typeface="Menlo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79" y="2121408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34C759"/>
                </a:solidFill>
                <a:latin typeface="PingFang SC"/>
              </a:rPr>
              <a:t>✓ </a:t>
            </a:r>
            <a:r>
              <a:rPr sz="1200" b="0">
                <a:solidFill>
                  <a:srgbClr val="ECECE6"/>
                </a:solidFill>
                <a:latin typeface="PingFang SC"/>
              </a:rPr>
              <a:t>4×12 · 188.5 MHz · 48 DSP · 48 MAC/cyc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2523744"/>
            <a:ext cx="11155680" cy="475488"/>
          </a:xfrm>
          <a:prstGeom prst="roundRect">
            <a:avLst>
              <a:gd name="adj" fmla="val 6000"/>
            </a:avLst>
          </a:prstGeom>
          <a:solidFill>
            <a:srgbClr val="0E0E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2633472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ECE6"/>
                </a:solidFill>
                <a:latin typeface="PingFang SC"/>
              </a:rPr>
              <a:t>INT8 matmul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17520" y="2651760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A9A89F"/>
                </a:solidFill>
                <a:latin typeface="Menlo"/>
              </a:rPr>
              <a:t>XC7S50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0" y="265176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A9A89F"/>
                </a:solidFill>
                <a:latin typeface="Menlo"/>
              </a:rPr>
              <a:t>≥200 MHz · ≤64 DSP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0" y="2633472"/>
            <a:ext cx="731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ECE6"/>
                </a:solidFill>
                <a:latin typeface="Menlo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79" y="2633472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34C759"/>
                </a:solidFill>
                <a:latin typeface="PingFang SC"/>
              </a:rPr>
              <a:t>✓ </a:t>
            </a:r>
            <a:r>
              <a:rPr sz="1200" b="0">
                <a:solidFill>
                  <a:srgbClr val="ECECE6"/>
                </a:solidFill>
                <a:latin typeface="PingFang SC"/>
              </a:rPr>
              <a:t>8×8 · 239.6 MHz · 64 DSP · 1005 LUT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035808"/>
            <a:ext cx="11155680" cy="475488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3145536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ECE6"/>
                </a:solidFill>
                <a:latin typeface="PingFang SC"/>
              </a:rPr>
              <a:t>INT8 matmul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17520" y="3163824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A9A89F"/>
                </a:solidFill>
                <a:latin typeface="Menlo"/>
              </a:rPr>
              <a:t>XC7S50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0" y="3163824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A9A89F"/>
                </a:solidFill>
                <a:latin typeface="Menlo"/>
              </a:rPr>
              <a:t>≥300 MHz · ≤32 DSP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66560" y="3145536"/>
            <a:ext cx="731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ECE6"/>
                </a:solidFill>
                <a:latin typeface="Menlo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79" y="3145536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34C759"/>
                </a:solidFill>
                <a:latin typeface="PingFang SC"/>
              </a:rPr>
              <a:t>✓ </a:t>
            </a:r>
            <a:r>
              <a:rPr sz="1200" b="0">
                <a:solidFill>
                  <a:srgbClr val="ECECE6"/>
                </a:solidFill>
                <a:latin typeface="PingFang SC"/>
              </a:rPr>
              <a:t>2×16 · 319.5 MHz · 32 DSP（acc 移出 DSP 后）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3547872"/>
            <a:ext cx="11155680" cy="475488"/>
          </a:xfrm>
          <a:prstGeom prst="roundRect">
            <a:avLst>
              <a:gd name="adj" fmla="val 6000"/>
            </a:avLst>
          </a:prstGeom>
          <a:solidFill>
            <a:srgbClr val="0E0E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365760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ECE6"/>
                </a:solidFill>
                <a:latin typeface="PingFang SC"/>
              </a:rPr>
              <a:t>INT8 matmul · 五级仿真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017520" y="3675888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A9A89F"/>
                </a:solidFill>
                <a:latin typeface="Menlo"/>
              </a:rPr>
              <a:t>XC7S50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0" y="3675888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A9A89F"/>
                </a:solidFill>
                <a:latin typeface="Menlo"/>
              </a:rPr>
              <a:t>≥300 MHz · ≤32 DSP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66560" y="3657600"/>
            <a:ext cx="731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ECE6"/>
                </a:solidFill>
                <a:latin typeface="Menlo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79" y="3657600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34C759"/>
                </a:solidFill>
                <a:latin typeface="PingFang SC"/>
              </a:rPr>
              <a:t>✓ </a:t>
            </a:r>
            <a:r>
              <a:rPr sz="1200" b="0">
                <a:solidFill>
                  <a:srgbClr val="ECECE6"/>
                </a:solidFill>
                <a:latin typeface="PingFang SC"/>
              </a:rPr>
              <a:t>2×16 · 315.0 MHz · 五级仿真全过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" y="4059936"/>
            <a:ext cx="11155680" cy="475488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4169664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ECE6"/>
                </a:solidFill>
                <a:latin typeface="PingFang SC"/>
              </a:rPr>
              <a:t>32 阶 FIR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017520" y="4187952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A9A89F"/>
                </a:solidFill>
                <a:latin typeface="Menlo"/>
              </a:rPr>
              <a:t>ECP5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14800" y="4187952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A9A89F"/>
                </a:solidFill>
                <a:latin typeface="Menlo"/>
              </a:rPr>
              <a:t>≥120 MHz · ≤6 DSP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766560" y="4169664"/>
            <a:ext cx="731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ECE6"/>
                </a:solidFill>
                <a:latin typeface="Menlo"/>
              </a:rPr>
              <a:t>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98079" y="4169664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34C759"/>
                </a:solidFill>
                <a:latin typeface="PingFang SC"/>
              </a:rPr>
              <a:t>✓ </a:t>
            </a:r>
            <a:r>
              <a:rPr sz="1200" b="0">
                <a:solidFill>
                  <a:srgbClr val="ECECE6"/>
                </a:solidFill>
                <a:latin typeface="PingFang SC"/>
              </a:rPr>
              <a:t>对称 fold=4 · 131 MHz · 4 DSP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48640" y="4572000"/>
            <a:ext cx="11155680" cy="475488"/>
          </a:xfrm>
          <a:prstGeom prst="roundRect">
            <a:avLst>
              <a:gd name="adj" fmla="val 6000"/>
            </a:avLst>
          </a:prstGeom>
          <a:solidFill>
            <a:srgbClr val="0E0E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" y="4681728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ECE6"/>
                </a:solidFill>
                <a:latin typeface="PingFang SC"/>
              </a:rPr>
              <a:t>32 阶 FIR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017520" y="4700016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A9A89F"/>
                </a:solidFill>
                <a:latin typeface="Menlo"/>
              </a:rPr>
              <a:t>XC7S50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14800" y="4700016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A9A89F"/>
                </a:solidFill>
                <a:latin typeface="Menlo"/>
              </a:rPr>
              <a:t>≥250 MHz · ≤8 DSP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766560" y="4681728"/>
            <a:ext cx="731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ECE6"/>
                </a:solidFill>
                <a:latin typeface="Menlo"/>
              </a:rPr>
              <a:t>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98079" y="4681728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34C759"/>
                </a:solidFill>
                <a:latin typeface="PingFang SC"/>
              </a:rPr>
              <a:t>✓ </a:t>
            </a:r>
            <a:r>
              <a:rPr sz="1200" b="0">
                <a:solidFill>
                  <a:srgbClr val="ECECE6"/>
                </a:solidFill>
                <a:latin typeface="PingFang SC"/>
              </a:rPr>
              <a:t>非对称 fold=8 · 259.1 MHz · 8 DSP · 324 LUT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48640" y="5084064"/>
            <a:ext cx="11155680" cy="475488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0080" y="5193792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ECE6"/>
                </a:solidFill>
                <a:latin typeface="PingFang SC"/>
              </a:rPr>
              <a:t>INT8 matmul（聊天）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017520" y="5212080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A9A89F"/>
                </a:solidFill>
                <a:latin typeface="Menlo"/>
              </a:rPr>
              <a:t>ECP5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114800" y="52120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A9A89F"/>
                </a:solidFill>
                <a:latin typeface="Menlo"/>
              </a:rPr>
              <a:t>≥160 MHz · ≤32 DSP · 省 LUT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766560" y="5193792"/>
            <a:ext cx="731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ECECE6"/>
                </a:solidFill>
                <a:latin typeface="Menlo"/>
              </a:rPr>
              <a:t>2 + 8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498079" y="5193792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34C759"/>
                </a:solidFill>
                <a:latin typeface="PingFang SC"/>
              </a:rPr>
              <a:t>✓ </a:t>
            </a:r>
            <a:r>
              <a:rPr sz="1200" b="0">
                <a:solidFill>
                  <a:srgbClr val="ECECE6"/>
                </a:solidFill>
                <a:latin typeface="PingFang SC"/>
              </a:rPr>
              <a:t>1×1 216.8 MHz → 追问后 fork：1×32 · 214 MHz · 32 MAC/cyc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0080" y="580644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F6E67"/>
                </a:solidFill>
                <a:latin typeface="PingFang SC"/>
              </a:rPr>
              <a:t>每轮成本：ECP5 15–60 秒，XC7S50 1.5–4 分钟（含五级仿真）。规划器 DeepSeek（reasoning），每轮一次调用。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A90E2"/>
                </a:solidFill>
                <a:latin typeface="Menlo"/>
              </a:rPr>
              <a:t>06 · 轨迹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ECECE6"/>
                </a:solidFill>
                <a:latin typeface="PingFang SC"/>
              </a:rPr>
              <a:t>两条真实轨迹：规划器是怎么「想」的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▣ silicon-agent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600200"/>
          <a:ext cx="5577840" cy="3017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4663440"/>
            <a:ext cx="54864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A9A89F"/>
                </a:solidFill>
                <a:latin typeface="PingFang SC"/>
              </a:rPr>
              <a:t>1 </a:t>
            </a:r>
            <a:r>
              <a:rPr sz="1150" b="0">
                <a:solidFill>
                  <a:srgbClr val="A9A89F"/>
                </a:solidFill>
                <a:latin typeface="PingFang SC"/>
              </a:rPr>
              <a:t>转置形式 1 样本/周期：495 MHz 但 45 DSP（Vivado 把整条 FIR 吸进 DSP 级联）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A9A89F"/>
                </a:solidFill>
                <a:latin typeface="PingFang SC"/>
              </a:rPr>
              <a:t>2–3 </a:t>
            </a:r>
            <a:r>
              <a:rPr sz="1150" b="0">
                <a:solidFill>
                  <a:srgbClr val="A9A89F"/>
                </a:solidFill>
                <a:latin typeface="PingFang SC"/>
              </a:rPr>
              <a:t>对称 + fold=2：DSP 降到 8，但乘法器操作数选择器成了墙（150–163 MHz）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A9A89F"/>
                </a:solidFill>
                <a:latin typeface="PingFang SC"/>
              </a:rPr>
              <a:t>4–6 </a:t>
            </a:r>
            <a:r>
              <a:rPr sz="1150" b="0">
                <a:solidFill>
                  <a:srgbClr val="A9A89F"/>
                </a:solidFill>
                <a:latin typeface="PingFang SC"/>
              </a:rPr>
              <a:t>fold=4 / 8、改 DSP 寄存器模式：236 / 225 / 152 MHz，都差一点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A9A89F"/>
                </a:solidFill>
                <a:latin typeface="PingFang SC"/>
              </a:rPr>
              <a:t>7 </a:t>
            </a:r>
            <a:r>
              <a:rPr sz="1150" b="0">
                <a:solidFill>
                  <a:srgbClr val="A9A89F"/>
                </a:solidFill>
                <a:latin typeface="PingFang SC"/>
              </a:rPr>
              <a:t>放弃对称共享、fold=8：</a:t>
            </a:r>
            <a:r>
              <a:rPr sz="1150" b="1">
                <a:solidFill>
                  <a:srgbClr val="34C759"/>
                </a:solidFill>
                <a:latin typeface="PingFang SC"/>
              </a:rPr>
              <a:t>259.1 MHz · 8 DSP · 324 LUT ✓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309360" y="1600200"/>
          <a:ext cx="5394960" cy="30175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0" y="4663440"/>
            <a:ext cx="530352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A9A89F"/>
                </a:solidFill>
                <a:latin typeface="PingFang SC"/>
              </a:rPr>
              <a:t>1 </a:t>
            </a:r>
            <a:r>
              <a:rPr sz="1150" b="0">
                <a:solidFill>
                  <a:srgbClr val="A9A89F"/>
                </a:solidFill>
                <a:latin typeface="PingFang SC"/>
              </a:rPr>
              <a:t>8×8 无流水：189.8 MHz，64 DSP，</a:t>
            </a:r>
            <a:r>
              <a:rPr sz="1150" b="0">
                <a:solidFill>
                  <a:srgbClr val="E05252"/>
                </a:solidFill>
                <a:latin typeface="PingFang SC"/>
              </a:rPr>
              <a:t>两级时序仿真失败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A9A89F"/>
                </a:solidFill>
                <a:latin typeface="PingFang SC"/>
              </a:rPr>
              <a:t>2 </a:t>
            </a:r>
            <a:r>
              <a:rPr sz="1150" b="0">
                <a:solidFill>
                  <a:srgbClr val="A9A89F"/>
                </a:solidFill>
                <a:latin typeface="PingFang SC"/>
              </a:rPr>
              <a:t>4×8 · DSP 寄存器 in_pipe_out · 累加器移出 DSP（acc_in_dsp=false）：296.3 MHz，五级全过，差 4 MHz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A9A89F"/>
                </a:solidFill>
                <a:latin typeface="PingFang SC"/>
              </a:rPr>
              <a:t>3 </a:t>
            </a:r>
            <a:r>
              <a:rPr sz="1150" b="0">
                <a:solidFill>
                  <a:srgbClr val="A9A89F"/>
                </a:solidFill>
                <a:latin typeface="PingFang SC"/>
              </a:rPr>
              <a:t>2×16 同配置：</a:t>
            </a:r>
            <a:r>
              <a:rPr sz="1150" b="1">
                <a:solidFill>
                  <a:srgbClr val="34C759"/>
                </a:solidFill>
                <a:latin typeface="PingFang SC"/>
              </a:rPr>
              <a:t>315.0 MHz · 32 DSP · 1994 LUT ✓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6F6E67"/>
                </a:solidFill>
                <a:latin typeface="PingFang SC"/>
              </a:rPr>
              <a:t>acc_in_dsp 这个旋钮来自一次实测扫描：DSP48E1 的 M→P 级 2.31 ns 是 277 MHz 的天花板。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A90E2"/>
                </a:solidFill>
                <a:latin typeface="Menlo"/>
              </a:rPr>
              <a:t>07 · 学习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ECECE6"/>
                </a:solidFill>
                <a:latin typeface="PingFang SC"/>
              </a:rPr>
              <a:t>设计记忆：每一步都沉淀成可召回、可验证的经验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▣ silicon-agent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45920"/>
            <a:ext cx="5486400" cy="237744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1810512"/>
            <a:ext cx="50840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CECE6"/>
                </a:solidFill>
                <a:latin typeface="PingFang SC"/>
              </a:rPr>
              <a:t>一条「经验」长什么样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212848"/>
            <a:ext cx="5084064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ECECE6"/>
                </a:solidFill>
                <a:latin typeface="PingFang SC"/>
              </a:rPr>
              <a:t>情境：</a:t>
            </a:r>
            <a:r>
              <a:rPr sz="1250" b="0">
                <a:solidFill>
                  <a:srgbClr val="A9A89F"/>
                </a:solidFill>
                <a:latin typeface="PingFang SC"/>
              </a:rPr>
              <a:t>违反类型 + 关键路径主导级 + 结构标签</a:t>
            </a:r>
          </a:p>
          <a:p>
            <a:pPr algn="l">
              <a:lnSpc>
                <a:spcPct val="115000"/>
              </a:lnSpc>
            </a:pPr>
            <a:r>
              <a:rPr sz="1250" b="1">
                <a:solidFill>
                  <a:srgbClr val="ECECE6"/>
                </a:solidFill>
                <a:latin typeface="PingFang SC"/>
              </a:rPr>
              <a:t>动作：</a:t>
            </a:r>
            <a:r>
              <a:rPr sz="1250" b="0">
                <a:solidFill>
                  <a:srgbClr val="A9A89F"/>
                </a:solidFill>
                <a:latin typeface="PingFang SC"/>
              </a:rPr>
              <a:t>IR 的差分（改了哪些旋钮）</a:t>
            </a:r>
          </a:p>
          <a:p>
            <a:pPr algn="l">
              <a:lnSpc>
                <a:spcPct val="115000"/>
              </a:lnSpc>
            </a:pPr>
            <a:r>
              <a:rPr sz="1250" b="1">
                <a:solidFill>
                  <a:srgbClr val="ECECE6"/>
                </a:solidFill>
                <a:latin typeface="PingFang SC"/>
              </a:rPr>
              <a:t>效果：</a:t>
            </a:r>
            <a:r>
              <a:rPr sz="1250" b="0">
                <a:solidFill>
                  <a:srgbClr val="A9A89F"/>
                </a:solidFill>
                <a:latin typeface="PingFang SC"/>
              </a:rPr>
              <a:t>实测 ΔFmax / ΔLUT / ΔDSP</a:t>
            </a:r>
          </a:p>
          <a:p>
            <a:pPr algn="l">
              <a:lnSpc>
                <a:spcPct val="115000"/>
              </a:lnSpc>
            </a:pPr>
            <a:r>
              <a:rPr sz="1250" b="1">
                <a:solidFill>
                  <a:srgbClr val="ECECE6"/>
                </a:solidFill>
                <a:latin typeface="PingFang SC"/>
              </a:rPr>
              <a:t>一句话：</a:t>
            </a:r>
            <a:r>
              <a:rPr sz="1250" b="0">
                <a:solidFill>
                  <a:srgbClr val="A9A89F"/>
                </a:solidFill>
                <a:latin typeface="PingFang SC"/>
              </a:rPr>
              <a:t>由 LLM 从以上三者蒸馏，例如——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ECE6"/>
                </a:solidFill>
                <a:latin typeface="PingFang SC"/>
              </a:rPr>
              <a:t>「ECP5 matmul 受 MULT18X18D 直灌 32 位进位链限制在 76.6 MHz 时，dsp_regs=in_pipe_out + pipe_mul=1 + reg_in 把乘法器隔离，Fmax 升到 216.8 MHz。」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645920"/>
            <a:ext cx="5303520" cy="237744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0528" y="1810512"/>
            <a:ext cx="49011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CECE6"/>
                </a:solidFill>
                <a:latin typeface="PingFang SC"/>
              </a:rPr>
              <a:t>闭环，不是日志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10528" y="2212848"/>
            <a:ext cx="4901184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A9A89F"/>
                </a:solidFill>
                <a:latin typeface="PingFang SC"/>
              </a:rPr>
              <a:t>• 每轮规划前按特征重叠召回 top-6，写进提示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A9A89F"/>
                </a:solidFill>
                <a:latin typeface="PingFang SC"/>
              </a:rPr>
              <a:t>• 规划器如果照做了：后一轮的实测自动 </a:t>
            </a:r>
            <a:r>
              <a:rPr sz="1250" b="0">
                <a:solidFill>
                  <a:srgbClr val="34C759"/>
                </a:solidFill>
                <a:latin typeface="PingFang SC"/>
              </a:rPr>
              <a:t>确认</a:t>
            </a:r>
            <a:r>
              <a:rPr sz="1250" b="0">
                <a:solidFill>
                  <a:srgbClr val="A9A89F"/>
                </a:solidFill>
                <a:latin typeface="PingFang SC"/>
              </a:rPr>
              <a:t> 或 </a:t>
            </a:r>
            <a:r>
              <a:rPr sz="1250" b="0">
                <a:solidFill>
                  <a:srgbClr val="E05252"/>
                </a:solidFill>
                <a:latin typeface="PingFang SC"/>
              </a:rPr>
              <a:t>推翻</a:t>
            </a:r>
            <a:r>
              <a:rPr sz="1250" b="0">
                <a:solidFill>
                  <a:srgbClr val="A9A89F"/>
                </a:solidFill>
                <a:latin typeface="PingFang SC"/>
              </a:rPr>
              <a:t> 这条经验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A9A89F"/>
                </a:solidFill>
                <a:latin typeface="PingFang SC"/>
              </a:rPr>
              <a:t>• 评分 = 确认 − 1.5×推翻 + 0.5×人工投票（UI 上 👍👎）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A9A89F"/>
                </a:solidFill>
                <a:latin typeface="PingFang SC"/>
              </a:rPr>
              <a:t>• 现有 39 条经验（matmul/FIR × ECP5/XC7S50），从历史运行回填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640080" y="4206240"/>
          <a:ext cx="5120640" cy="2103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309360" y="4297680"/>
            <a:ext cx="530352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A9A89F"/>
                </a:solidFill>
                <a:latin typeface="PingFang SC"/>
              </a:rPr>
              <a:t>有记忆的那次在第 2 轮就引用了经验 id 直接给出可行设计（295.3 MHz / 48 DSP）；无记忆的要到第 3 轮。</a:t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6F6E67"/>
                </a:solidFill>
                <a:latin typeface="PingFang SC"/>
              </a:rPr>
              <a:t>估算校准同理：每次 EDA 结果都记录（特征, 估算, 实测），岭回归 + LOO 选 λ，只有打败原始估算时才启用。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A90E2"/>
                </a:solidFill>
                <a:latin typeface="Menlo"/>
              </a:rPr>
              <a:t>08 · 产品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ECECE6"/>
                </a:solidFill>
                <a:latin typeface="PingFang SC"/>
              </a:rPr>
              <a:t>产品形态：一个像 Claude 的聊天，细节折叠在卡片里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▣ silicon-agent</a:t>
            </a:r>
          </a:p>
        </p:txBody>
      </p:sp>
      <p:pic>
        <p:nvPicPr>
          <p:cNvPr id="6" name="Picture 5" descr="ch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0"/>
            <a:ext cx="6675120" cy="4171950"/>
          </a:xfrm>
          <a:prstGeom prst="rect">
            <a:avLst/>
          </a:prstGeom>
          <a:ln w="9525">
            <a:solidFill>
              <a:srgbClr val="333331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7589520" y="1691640"/>
            <a:ext cx="411480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ECECE6"/>
                </a:solidFill>
                <a:latin typeface="PingFang SC"/>
              </a:rPr>
              <a:t>输入只有自然语言。</a:t>
            </a:r>
            <a:r>
              <a:rPr sz="1250" b="0">
                <a:solidFill>
                  <a:srgbClr val="A9A89F"/>
                </a:solidFill>
                <a:latin typeface="PingFang SC"/>
              </a:rPr>
              <a:t> nl.interpret 产出完整规格：设计类型、器件、锁定参数、约束、目标顺序、朴素起点，并说明假设。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A9A89F"/>
                </a:solidFill>
                <a:latin typeface="PingFang SC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50" b="1">
                <a:solidFill>
                  <a:srgbClr val="ECECE6"/>
                </a:solidFill>
                <a:latin typeface="PingFang SC"/>
              </a:rPr>
              <a:t>追问即迭代。</a:t>
            </a:r>
            <a:r>
              <a:rPr sz="1250" b="0">
                <a:solidFill>
                  <a:srgbClr val="A9A89F"/>
                </a:solidFill>
                <a:latin typeface="PingFang SC"/>
              </a:rPr>
              <a:t> 同一会话里再说一句：改约束 → 从上一次最佳设计 fork；运行中 → 作为工程师指令插话；提问 → 直接回答。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A9A89F"/>
                </a:solidFill>
                <a:latin typeface="PingFang SC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50" b="1">
                <a:solidFill>
                  <a:srgbClr val="ECECE6"/>
                </a:solidFill>
                <a:latin typeface="PingFang SC"/>
              </a:rPr>
              <a:t>细节按需展开。</a:t>
            </a:r>
            <a:r>
              <a:rPr sz="1250" b="0">
                <a:solidFill>
                  <a:srgbClr val="A9A89F"/>
                </a:solidFill>
                <a:latin typeface="PingFang SC"/>
              </a:rPr>
              <a:t> 卡片默认折叠；展开才看到每轮 IR 差分、五级仿真、关键路径、日志。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A9A89F"/>
                </a:solidFill>
                <a:latin typeface="PingFang SC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50" b="1">
                <a:solidFill>
                  <a:srgbClr val="ECECE6"/>
                </a:solidFill>
                <a:latin typeface="PingFang SC"/>
              </a:rPr>
              <a:t>工程师视图。</a:t>
            </a:r>
            <a:r>
              <a:rPr sz="1250" b="0">
                <a:solidFill>
                  <a:srgbClr val="A9A89F"/>
                </a:solidFill>
                <a:latin typeface="PingFang SC"/>
              </a:rPr>
              <a:t> 每个会话有独立的 worktable：轨迹图、架构草图、IR 旋钮、比较、fork、RTL。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A9A89F"/>
                </a:solidFill>
                <a:latin typeface="PingFang SC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50" b="1">
                <a:solidFill>
                  <a:srgbClr val="ECECE6"/>
                </a:solidFill>
                <a:latin typeface="PingFang SC"/>
              </a:rPr>
              <a:t>部署：</a:t>
            </a:r>
            <a:r>
              <a:rPr sz="1250" b="0">
                <a:solidFill>
                  <a:srgbClr val="A9A89F"/>
                </a:solidFill>
                <a:latin typeface="PingFang SC"/>
              </a:rPr>
              <a:t> netcup 上 Vivado 容器里的任务服务器，sluice SSO；笔记本只是瘦客户端（sa ask "…"）。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A90E2"/>
                </a:solidFill>
                <a:latin typeface="Menlo"/>
              </a:rPr>
              <a:t>08 · 产品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ECECE6"/>
                </a:solidFill>
                <a:latin typeface="PingFang SC"/>
              </a:rPr>
              <a:t>工程师视图：每个会话一张独立的 worktable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▣ silicon-agent</a:t>
            </a:r>
          </a:p>
        </p:txBody>
      </p:sp>
      <p:pic>
        <p:nvPicPr>
          <p:cNvPr id="6" name="Picture 5" descr="work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0"/>
            <a:ext cx="7863840" cy="4914900"/>
          </a:xfrm>
          <a:prstGeom prst="rect">
            <a:avLst/>
          </a:prstGeom>
          <a:ln w="9525">
            <a:solidFill>
              <a:srgbClr val="333331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8778240" y="1691640"/>
            <a:ext cx="301752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ECECE6"/>
                </a:solidFill>
                <a:latin typeface="PingFang SC"/>
              </a:rPr>
              <a:t>一轮一个 turn。</a:t>
            </a:r>
            <a:r>
              <a:rPr sz="1250" b="0">
                <a:solidFill>
                  <a:srgbClr val="A9A89F"/>
                </a:solidFill>
                <a:latin typeface="PingFang SC"/>
              </a:rPr>
              <a:t> 规划器的动作、IR 差分、判定行、仿真阶段；假设 / 召回的经验 / 候选与估算 / 关键路径 / 本轮经验折叠在 details 里。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A9A89F"/>
                </a:solidFill>
                <a:latin typeface="PingFang SC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50" b="1">
                <a:solidFill>
                  <a:srgbClr val="ECECE6"/>
                </a:solidFill>
                <a:latin typeface="PingFang SC"/>
              </a:rPr>
              <a:t>右侧 inspector。</a:t>
            </a:r>
            <a:r>
              <a:rPr sz="1250" b="0">
                <a:solidFill>
                  <a:srgbClr val="A9A89F"/>
                </a:solidFill>
                <a:latin typeface="PingFang SC"/>
              </a:rPr>
              <a:t> 架构草图、IR 旋钮（点一下就起草一条插话）、关键路径分解条、轨迹图、五级仿真表、生成的 RTL、记忆。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A9A89F"/>
                </a:solidFill>
                <a:latin typeface="PingFang SC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50" b="1">
                <a:solidFill>
                  <a:srgbClr val="ECECE6"/>
                </a:solidFill>
                <a:latin typeface="PingFang SC"/>
              </a:rPr>
              <a:t>动作。</a:t>
            </a:r>
            <a:r>
              <a:rPr sz="1250" b="0">
                <a:solidFill>
                  <a:srgbClr val="A9A89F"/>
                </a:solidFill>
                <a:latin typeface="PingFang SC"/>
              </a:rPr>
              <a:t> 从任意一轮 fork 并改约束、同会话两次运行并排比较、重跑、删除——都留在这个会话里，并在聊天里出现为一个 turn。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A9A89F"/>
                </a:solidFill>
                <a:latin typeface="PingFang SC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50" b="1">
                <a:solidFill>
                  <a:srgbClr val="ECECE6"/>
                </a:solidFill>
                <a:latin typeface="PingFang SC"/>
              </a:rPr>
              <a:t>与聊天互通。</a:t>
            </a:r>
            <a:r>
              <a:rPr sz="1250" b="0">
                <a:solidFill>
                  <a:srgbClr val="A9A89F"/>
                </a:solidFill>
                <a:latin typeface="PingFang SC"/>
              </a:rPr>
              <a:t> 聊天负责「要什么」，worktable 负责「为什么」。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A90E2"/>
                </a:solidFill>
                <a:latin typeface="Menlo"/>
              </a:rPr>
              <a:t>09 · 积累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ECECE6"/>
                </a:solidFill>
                <a:latin typeface="PingFang SC"/>
              </a:rPr>
              <a:t>护城河是「实测过的器件事实」，不是提示词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▣ silicon-agent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45920"/>
            <a:ext cx="5394960" cy="137160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1810512"/>
            <a:ext cx="49926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4A90E2"/>
                </a:solidFill>
                <a:latin typeface="Menlo"/>
              </a:rPr>
              <a:t>ECP5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212848"/>
            <a:ext cx="499262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A9A89F"/>
                </a:solidFill>
                <a:latin typeface="PingFang SC"/>
              </a:rPr>
              <a:t>yosys 永远不会把流水寄存器打包进 MULT18X18D → 必须显式例化并用 REG_* 参数（76 → 147 MHz）。级联口 SRIA/SRIB 悬空否则 nextpnr 路由不了 GND 网。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645920"/>
            <a:ext cx="5394960" cy="137160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64808" y="1810512"/>
            <a:ext cx="49926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4A90E2"/>
                </a:solidFill>
                <a:latin typeface="Menlo"/>
              </a:rPr>
              <a:t>XC7S50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64808" y="2212848"/>
            <a:ext cx="499262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A9A89F"/>
                </a:solidFill>
                <a:latin typeface="PingFang SC"/>
              </a:rPr>
              <a:t>8×8 乘法需要 (* use_dsp="yes" *) 才进 DSP48E1；pipe_mul&gt;0 会让 Vivado 用 2 个 DSP/PE；DSP48E1 的 M→P 级 2.31 ns 是 277 MHz 天花板，累加器移到 CARRY4 后 299–319 MHz。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127248"/>
            <a:ext cx="5394960" cy="137160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3291840"/>
            <a:ext cx="49926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4A90E2"/>
                </a:solidFill>
                <a:latin typeface="Menlo"/>
              </a:rPr>
              <a:t>FIR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" y="3694176"/>
            <a:ext cx="499262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A9A89F"/>
                </a:solidFill>
                <a:latin typeface="PingFang SC"/>
              </a:rPr>
              <a:t>yosys 对行为级乘法会自动常量折叠零系数、共享相等系数——symmetric 旗标没用，除非显式 DSP；Vivado 会把整条转置 FIR 吸进 DSP 级联（495 MHz，1 LUT，45 DSP）。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3127248"/>
            <a:ext cx="5394960" cy="137160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64808" y="3291840"/>
            <a:ext cx="49926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4A90E2"/>
                </a:solidFill>
                <a:latin typeface="Menlo"/>
              </a:rPr>
              <a:t>仿真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4808" y="3694176"/>
            <a:ext cx="499262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A9A89F"/>
                </a:solidFill>
                <a:latin typeface="PingFang SC"/>
              </a:rPr>
              <a:t>glbl.GSR 让触发器保持 100 ns；-transport_int_delays -pulse_r 0 会产生伪 X；xelab 要 unset LIBRARY_PATH；ECP5 的 cells_sim.v 重复 include，要预处理去重。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608576"/>
            <a:ext cx="5394960" cy="137160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" y="4773168"/>
            <a:ext cx="49926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4A90E2"/>
                </a:solidFill>
                <a:latin typeface="Menlo"/>
              </a:rPr>
              <a:t>规划器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5175504"/>
            <a:ext cx="499262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A9A89F"/>
                </a:solidFill>
                <a:latin typeface="PingFang SC"/>
              </a:rPr>
              <a:t>DeepSeek reasoning 会把 max_tokens 全烧在思考上返回空内容 → reasoning_effort 高→低回退 + 回复缓存；JSON 花括号让 str.format 炸 → @占位符@。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4608576"/>
            <a:ext cx="5394960" cy="137160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64808" y="4773168"/>
            <a:ext cx="49926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4A90E2"/>
                </a:solidFill>
                <a:latin typeface="Menlo"/>
              </a:rPr>
              <a:t>LLM 的坏习惯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64808" y="5175504"/>
            <a:ext cx="499262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A9A89F"/>
                </a:solidFill>
                <a:latin typeface="PingFang SC"/>
              </a:rPr>
              <a:t>为了最小化 LUT 把 INT8 改成 INT4（→ locked）；把 1×1 PE 当成「省资源」（→ 吞吐优先的解释规则）；把 160 MHz 擅自加到 170（→ 按原话取数）。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1264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F6E67"/>
                </a:solidFill>
                <a:latin typeface="PingFang SC"/>
              </a:rPr>
              <a:t>这些都写进了规划器的「器件事实」提示和设计记忆——每一条都附带实测数字。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A90E2"/>
                </a:solidFill>
                <a:latin typeface="Menlo"/>
              </a:rPr>
              <a:t>10 · 路线图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ECECE6"/>
                </a:solidFill>
                <a:latin typeface="PingFang SC"/>
              </a:rPr>
              <a:t>下一步：从「两个设计、两块芯片」到一个平台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▣ silicon-agent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45920"/>
            <a:ext cx="3566160" cy="457200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45920"/>
            <a:ext cx="3566160" cy="73152"/>
          </a:xfrm>
          <a:prstGeom prst="rect">
            <a:avLst/>
          </a:prstGeom>
          <a:solidFill>
            <a:srgbClr val="34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1874519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34C759"/>
                </a:solidFill>
                <a:latin typeface="PingFang SC"/>
              </a:rPr>
              <a:t>近期 · 让它更可信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331720"/>
            <a:ext cx="320040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89F"/>
                </a:solidFill>
                <a:latin typeface="PingFang SC"/>
              </a:rPr>
              <a:t>• 基准集 + 回归：固定 12 个规格每晚跑，对比轮数 / Fmax / 成本，守住记忆与估算不退化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89F"/>
                </a:solidFill>
                <a:latin typeface="PingFang SC"/>
              </a:rPr>
              <a:t>• 多种子 Fmax：nextpnr/Vivado 3 个种子取中位数，消掉 ±5% 的噪声误判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89F"/>
                </a:solidFill>
                <a:latin typeface="PingFang SC"/>
              </a:rPr>
              <a:t>• 跨运行 Pareto 前沿：同一设计所有历史点，前端直接给「这条约束线上你能拿到的最好」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89F"/>
                </a:solidFill>
                <a:latin typeface="PingFang SC"/>
              </a:rPr>
              <a:t>• 停机原因可解释：规划器 stop 时给出「为什么再试也没用」+ 证据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645920"/>
            <a:ext cx="3566160" cy="457200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120" y="1645920"/>
            <a:ext cx="3566160" cy="73152"/>
          </a:xfrm>
          <a:prstGeom prst="rect">
            <a:avLst/>
          </a:prstGeom>
          <a:solidFill>
            <a:srgbClr val="4A90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90288" y="1874519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4A90E2"/>
                </a:solidFill>
                <a:latin typeface="PingFang SC"/>
              </a:rPr>
              <a:t>中期 · 扩大设计空间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0288" y="2331720"/>
            <a:ext cx="320040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89F"/>
                </a:solidFill>
                <a:latin typeface="PingFang SC"/>
              </a:rPr>
              <a:t>• 第三类生成器：BRAM 密集型（卷积 / 行缓冲 / FFT），把存储器也纳入旋钮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89F"/>
                </a:solidFill>
                <a:latin typeface="PingFang SC"/>
              </a:rPr>
              <a:t>• 组合设计：matmul + FIR 级联成数据通路，顶层由 IR 图描述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89F"/>
                </a:solidFill>
                <a:latin typeface="PingFang SC"/>
              </a:rPr>
              <a:t>• 参数化接口：AXI-Stream / AXI-Lite 包装，输出可直接进 Vivado IP Integrator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89F"/>
                </a:solidFill>
                <a:latin typeface="PingFang SC"/>
              </a:rPr>
              <a:t>• 功耗：从 Vivado report_power 取数，做第四个约束维度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59" y="1645920"/>
            <a:ext cx="3566160" cy="457200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38159" y="1645920"/>
            <a:ext cx="3566160" cy="73152"/>
          </a:xfrm>
          <a:prstGeom prst="rect">
            <a:avLst/>
          </a:prstGeom>
          <a:solidFill>
            <a:srgbClr val="D9A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39327" y="1874519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D9A21B"/>
                </a:solidFill>
                <a:latin typeface="PingFang SC"/>
              </a:rPr>
              <a:t>长期 · 平台化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9327" y="2331720"/>
            <a:ext cx="320040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89F"/>
                </a:solidFill>
                <a:latin typeface="PingFang SC"/>
              </a:rPr>
              <a:t>• 多器件：UltraScale+、iCE40、Gowin——后端只是「跑工具 + 解析报告」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89F"/>
                </a:solidFill>
                <a:latin typeface="PingFang SC"/>
              </a:rPr>
              <a:t>• 板级闭环：有板子后用 ILA/VIO 做在板验证，把实测频率作为第六级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89F"/>
                </a:solidFill>
                <a:latin typeface="PingFang SC"/>
              </a:rPr>
              <a:t>• 开放 IR 规范：让别人写生成器接入；设计记忆跨用户共享（可审计）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89F"/>
                </a:solidFill>
                <a:latin typeface="PingFang SC"/>
              </a:rPr>
              <a:t>• 从「优化给定架构」到「选架构」：按规格先在多个生成器间做架构级 A/B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82880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ECECE6"/>
                </a:solidFill>
                <a:latin typeface="PingFang SC"/>
              </a:rPr>
              <a:t>说一句话，拿到签核过的 Verilog。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017520"/>
            <a:ext cx="105156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>
                <a:solidFill>
                  <a:srgbClr val="A9A89F"/>
                </a:solidFill>
                <a:latin typeface="PingFang SC"/>
              </a:rPr>
              <a:t>• 两类设计（systolic 矩阵乘、FIR）× 两块芯片（ECP5、Spartan-7），7 个任务全部达标，最高 319.5 MHz</a:t>
            </a:r>
          </a:p>
          <a:p>
            <a:pPr algn="l">
              <a:lnSpc>
                <a:spcPct val="140000"/>
              </a:lnSpc>
            </a:pPr>
            <a:r>
              <a:rPr sz="1600" b="0">
                <a:solidFill>
                  <a:srgbClr val="A9A89F"/>
                </a:solidFill>
                <a:latin typeface="PingFang SC"/>
              </a:rPr>
              <a:t>• 五级仿真阶梯 + 真实布局布线签核，没有一个估算数字进结论</a:t>
            </a:r>
          </a:p>
          <a:p>
            <a:pPr algn="l">
              <a:lnSpc>
                <a:spcPct val="140000"/>
              </a:lnSpc>
            </a:pPr>
            <a:r>
              <a:rPr sz="1600" b="0">
                <a:solidFill>
                  <a:srgbClr val="A9A89F"/>
                </a:solidFill>
                <a:latin typeface="PingFang SC"/>
              </a:rPr>
              <a:t>• 39 条自动验证的设计经验；有记忆比无记忆少一轮</a:t>
            </a:r>
          </a:p>
          <a:p>
            <a:pPr algn="l">
              <a:lnSpc>
                <a:spcPct val="140000"/>
              </a:lnSpc>
            </a:pPr>
            <a:r>
              <a:rPr sz="1600" b="0">
                <a:solidFill>
                  <a:srgbClr val="A9A89F"/>
                </a:solidFill>
                <a:latin typeface="PingFang SC"/>
              </a:rPr>
              <a:t>• 2 天、约 5,000 行 Python/JS，20 次提交；已部署，笔记本是瘦客户端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6692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A90E2"/>
                </a:solidFill>
                <a:latin typeface="Menlo"/>
              </a:rPr>
              <a:t>https://silicon.w33d.xyz   ·   ~/Playground/silicon-agent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