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32 阶 FIR · XC7S50 · ≥250 MHz, ≤8 DSP · Fmax/轮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spPr>
            <a:ln w="25400">
              <a:solidFill>
                <a:srgbClr val="4A90E2"/>
              </a:solidFill>
            </a:ln>
          </c:spPr>
          <c:marker>
            <c:symbol val="circle"/>
            <c:size val="7"/>
            <c:spPr>
              <a:solidFill>
                <a:srgbClr val="4A90E2"/>
              </a:solidFill>
            </c:spPr>
          </c:marker>
          <c:dPt>
            <c:idx val="0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1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2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3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4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5"/>
            <c:marker>
              <c:symbol val="circle"/>
              <c:size val="8"/>
              <c:spPr>
                <a:solidFill>
                  <a:srgbClr val="E05252"/>
                </a:solidFill>
              </c:spPr>
            </c:marker>
          </c:dPt>
          <c:dPt>
            <c:idx val="6"/>
            <c:marker>
              <c:symbol val="circle"/>
              <c:size val="8"/>
              <c:spPr>
                <a:solidFill>
                  <a:srgbClr val="34C759"/>
                </a:solidFill>
              </c:spPr>
            </c:marker>
          </c:dPt>
          <c:cat>
            <c:strRef>
              <c:f>Sheet1!$A$2:$A$8</c:f>
              <c:strCache>
                <c:ptCount val="7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7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495.5</c:v>
                </c:pt>
                <c:pt idx="1">
                  <c:v>163.1</c:v>
                </c:pt>
                <c:pt idx="2">
                  <c:v>150.0</c:v>
                </c:pt>
                <c:pt idx="3">
                  <c:v>236.6</c:v>
                </c:pt>
                <c:pt idx="4">
                  <c:v>225.5</c:v>
                </c:pt>
                <c:pt idx="5">
                  <c:v>152.1</c:v>
                </c:pt>
                <c:pt idx="6">
                  <c:v>259.1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>
                <a:solidFill>
                  <a:srgbClr val="ECECE6"/>
                </a:solidFill>
              </a:rPr>
              <a:t>INT8 matmul · XC7S50 · ≥300 MHz, ≤32 DSP · Fmax/轮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Fmax (MHz)</c:v>
                </c:pt>
              </c:strCache>
            </c:strRef>
          </c:tx>
          <c:dPt>
            <c:idx val="0"/>
            <c:spPr>
              <a:solidFill>
                <a:srgbClr val="E05252"/>
              </a:solidFill>
            </c:spPr>
          </c:dPt>
          <c:dPt>
            <c:idx val="1"/>
            <c:spPr>
              <a:solidFill>
                <a:srgbClr val="D9A21B"/>
              </a:solidFill>
            </c:spPr>
          </c:dPt>
          <c:dPt>
            <c:idx val="2"/>
            <c:spPr>
              <a:solidFill>
                <a:srgbClr val="34C759"/>
              </a:solidFill>
            </c:spPr>
          </c:dPt>
          <c:cat>
            <c:strRef>
              <c:f>Sheet1!$A$2:$A$4</c:f>
              <c:strCach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189.8</c:v>
                </c:pt>
                <c:pt idx="1">
                  <c:v>296.3</c:v>
                </c:pt>
                <c:pt idx="2">
                  <c:v>315.0</c:v>
                </c:pt>
              </c:numCache>
            </c:numRef>
          </c:val>
        </c:ser>
        <c:gapWidth val="12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100">
                <a:solidFill>
                  <a:srgbClr val="ECECE6"/>
                </a:solidFill>
              </a:rPr>
              <a:t>A/B：同一规格（XC7S50 · ≥280 MHz · ≤48 DSP）</a:t>
            </a:r>
          </a:p>
        </c:rich>
      </c:tx>
      <c:layout/>
      <c:overlay val="0"/>
    </c:title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首次可行所需轮数</c:v>
                </c:pt>
              </c:strCache>
            </c:strRef>
          </c:tx>
          <c:spPr>
            <a:solidFill>
              <a:srgbClr val="4A90E2"/>
            </a:solidFill>
          </c:spPr>
          <c:cat>
            <c:strRef>
              <c:f>Sheet1!$A$2:$A$3</c:f>
              <c:strCache>
                <c:ptCount val="2"/>
                <c:pt idx="0">
                  <c:v>有记忆</c:v>
                </c:pt>
                <c:pt idx="1">
                  <c:v>无记忆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</c:v>
                </c:pt>
                <c:pt idx="1">
                  <c:v>3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>
                  <a:solidFill>
                    <a:srgbClr val="ECECE6"/>
                  </a:solidFill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>
          <c:spPr>
            <a:ln>
              <a:solidFill>
                <a:srgbClr val="262624"/>
              </a:solidFill>
            </a:ln>
          </c:spPr>
        </c:majorGridlines>
        <c:majorTickMark val="out"/>
        <c:minorTickMark val="none"/>
        <c:tickLblPos val="nextTo"/>
        <c:spPr>
          <a:ln>
            <a:solidFill>
              <a:srgbClr val="333331"/>
            </a:solidFill>
          </a:ln>
        </c:spPr>
        <c:txPr>
          <a:bodyPr/>
          <a:lstStyle/>
          <a:p>
            <a:pPr>
              <a:defRPr sz="1000">
                <a:solidFill>
                  <a:srgbClr val="A9A89F"/>
                </a:solidFill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000">
          <a:solidFill>
            <a:srgbClr val="A9A89F"/>
          </a:solidFill>
          <a:latin typeface="PingFang SC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▣ silicon-agent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560320"/>
            <a:ext cx="10789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800" b="1">
                <a:solidFill>
                  <a:srgbClr val="ECECE6"/>
                </a:solidFill>
                <a:latin typeface="PingFang SC"/>
              </a:rPr>
              <a:t>一句话，换一份签核过的 Verilog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749039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A9A89F"/>
                </a:solidFill>
                <a:latin typeface="PingFang SC"/>
              </a:rPr>
              <a:t>自然语言 → 架构 IR → RTL → 仿真 → 综合 → 布局布线 → 诊断 → 下一轮，直到时序和资源约束全部满足。
真实 EDA 工具是唯一的 ground truth：没有一个数字是估出来的。5 种器件 · 7 类生成器 · 形式等价 · 每晚回归 · 已部署。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57607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Menlo"/>
              </a:rPr>
              <a:t>2026-10 · 路演 · w33d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01 · 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问题：从「想要一个加速器」到「能跑的 RTL」是几天的人肉循环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1  写 RTL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手写几百行 SystemVerilog，一个流水级改动牵一发动全身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2  写测试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testbench、golden model、覆盖率，比 RTL 还多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19" y="173736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7" y="190195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3  跑综合 / P&amp;R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7" y="230428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 30 秒，Vivado 几分钟；每天只能试十几种结构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4  看时序报告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关键路径在哪一级？是乘法器、进位链还是布线？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44568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5  改架构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44568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折叠、流水、DSP 寄存器配置……经验决定一切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19" y="3657600"/>
            <a:ext cx="3474720" cy="16916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47887" y="3822192"/>
            <a:ext cx="30723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6  再来一遍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47887" y="4224528"/>
            <a:ext cx="3072384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 FIR 调到 250 MHz 要试 5–10 版本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71500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D9A21B"/>
                </a:solidFill>
                <a:latin typeface="PingFang SC"/>
              </a:rPr>
              <a:t>LLM 直接写 Verilog 并不解决这个问题：它写出来的代码没法保证可综合、可仿真，更不知道自己写的东西在芯片上跑多快。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 · 核心思路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思路：让 LLM 改「架构」，不让它写「代码」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架构 IR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一个不可变的 dataclass，十几个旋钮：</a:t>
            </a:r>
          </a:p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pe_rows · pe_cols · acc_width · pipe_mul · reg_in · dsp_regs · acc_in_dsp · fold · symmetric …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LLM 每轮只输出一个新的 IR（JSON）。它不写 RTL，不写 testbench。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确定性生成器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IR → SystemVerilog，构造即正确。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接口是 latency-insensitive 的 valid/ready 流：无论怎么加流水级、折叠，testbench 不用改。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ECP5：显式例化 MULT18X18D；Spartan-7：行为级 DSP48E1 推断 + 属性控制。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39319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EDA 是 ground truth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cocotb + iverilog 对 Python 黄金模型；yosys + nextpnr / Vivado 2025.2 真实布局布线。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Fmax、LUT、DSP、关键路径逐级分解——全部来自工具报告，喂回 LLM 做诊断。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约束 = 硬过滤；目标 = 字典序。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4A90E2"/>
                </a:solidFill>
                <a:latin typeface="PingFang SC"/>
              </a:rPr>
              <a:t>结果：LLM 的每一个决定都被真实工具立刻打分；它只能在一个「永远可综合、永远可仿真」的空间里搜索。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02b · 运行时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智能体底座：Agnes Harness（AGH）跑模型循环，silicon-agent 是它的插件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AGH 负责什么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模型循环（DeepSeek 作为 provider）、每次工具调用的输入/结构化输出记录、审批、会话历史与压缩、可恢复的任务状态。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一个对话 = 一个 AGH 会话；前端显示的「智能体过程」就是 AGH 的工具账本。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4456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silicon-agent 提供什么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4456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agh-plugin：12 个 sa_* 工具（schema / interpret / estimate / run / job / steer / stop / jobs / pareto / job_file / formal / bench）+ 一个 Skill「怎么把需求跑到签核」。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两个钩子：context 注入方法论，tool_call 在聊天会话里拒绝 write/shell 等宿主工具——所有变更都经作业服务器。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645920"/>
            <a:ext cx="3566160" cy="402336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47888" y="1810512"/>
            <a:ext cx="31638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魔改了什么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47888" y="2212848"/>
            <a:ext cx="3163824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fork 里加了 `silicon` 配方（只读宿主工具集）；DeepSeek 凭证走 AGH 的加密凭证库（目录必须 0700）。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部署：compose 里第二个容器跑 agnesd，共享 /srv/sa，启动时自动配置 DeepSeek + 安装/信任/启用插件。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34C759"/>
                </a:solidFill>
                <a:latin typeface="PingFang SC"/>
              </a:rPr>
              <a:t>agent 自己发现过一个仿真库 bug（Gowin ALU 模型常量输入下永远 X），修掉后它重跑收敛到 236 LUT。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85216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4A90E2"/>
                </a:solidFill>
                <a:latin typeface="PingFang SC"/>
              </a:rPr>
              <a:t>结果：规划、工具记录、审批、会话都在一个有审计的底座上；silicon-agent 只写领域能力。换模型 = 换 AGH provider。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03 · 系统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闭环：规划 → 生成 → 仿真 → 综合/P&amp;R → 诊断 → 学习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6F6E6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用户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自然语言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1051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nl.interpret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→ 规格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6265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7238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规划器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(DeepSeek)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≤3 个候选 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2452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3425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A21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筛选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闭式估算 + 校准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0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596128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A9A89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生成器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IR → SV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0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仿真阶梯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行为级 … 实现后时序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0144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9872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D959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综合 + P&amp;R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nextpnr / Vivado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72016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381744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E0525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诊断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关键路径分解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33888" y="2560320"/>
            <a:ext cx="137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400" b="0">
                <a:solidFill>
                  <a:srgbClr val="6F6E67"/>
                </a:solidFill>
                <a:latin typeface="PingFang SC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643616" y="2103120"/>
            <a:ext cx="1170432" cy="118872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wrap="square"/>
          <a:lstStyle/>
          <a:p>
            <a:pPr algn="ctr"/>
            <a:r>
              <a:rPr sz="1100" b="1">
                <a:solidFill>
                  <a:srgbClr val="ECECE6"/>
                </a:solidFill>
                <a:latin typeface="PingFang SC"/>
              </a:rPr>
              <a:t>设计记忆</a:t>
            </a:r>
          </a:p>
          <a:p>
            <a:pPr algn="ctr"/>
            <a:r>
              <a:rPr sz="1000" b="0">
                <a:solidFill>
                  <a:srgbClr val="A9A89F"/>
                </a:solidFill>
                <a:latin typeface="PingFang SC"/>
              </a:rPr>
              <a:t>经验沉淀 / 召回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377440" y="347472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◄── 诊断 + 召回的经验 + 用户插话，进入下一轮的规划提示 ──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4023360"/>
            <a:ext cx="109728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候选筛选：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规划器一次给 ≤3 个方案，闭式估算排序，只有第一名进 EDA；估算用岭回归按历史实测自动校准（matmul/xc7s50 的 LUT 误差 105% → 31%）。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锁定字段：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data_width / taps / cutoff 是任务定义，规划器不能为了省 LUT 把 INT8 改成 INT4。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可插话：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运行中用户的一句话会以「工程师指令」进入下一轮提示。</a:t>
            </a:r>
          </a:p>
          <a:p>
            <a:pPr algn="l">
              <a:lnSpc>
                <a:spcPct val="130000"/>
              </a:lnSpc>
            </a:pPr>
            <a:r>
              <a:rPr sz="1300" b="0">
                <a:solidFill>
                  <a:srgbClr val="A9A89F"/>
                </a:solidFill>
                <a:latin typeface="PingFang SC"/>
              </a:rPr>
              <a:t>• </a:t>
            </a:r>
            <a:r>
              <a:rPr sz="1300" b="1">
                <a:solidFill>
                  <a:srgbClr val="ECECE6"/>
                </a:solidFill>
                <a:latin typeface="PingFang SC"/>
              </a:rPr>
              <a:t>可恢复：</a:t>
            </a:r>
            <a:r>
              <a:rPr sz="1300" b="0">
                <a:solidFill>
                  <a:srgbClr val="A9A89F"/>
                </a:solidFill>
                <a:latin typeface="PingFang SC"/>
              </a:rPr>
              <a:t>SIGTERM 时做完当前轮，重启后从 EDA 缓存 + 规划回复缓存零秒重放；部署不丢任务。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04 · 验证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五级仿真阶梯：时序仿真失败也是一种「违反约束」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737360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901952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1847088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行为级仿真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1901952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RTL 逻辑 vs Python 黄金模型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0" y="1901952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cocotb + iverilog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2720" y="1901952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32304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596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542032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综合后功能仿真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2596896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综合网表，无延迟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0" y="2596896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iverilog(ECP5 网表) / xsim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0" y="2596896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ECP5 · XC7S50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127248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2918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236976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综合后时序仿真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1920" y="32918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综合网表 + 估算 SDF 延迟，目标周期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80" y="3291840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32720" y="3291840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22192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398678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3931920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实现后功能仿真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931920" y="3986784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布线后网表，无延迟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986784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332720" y="3986784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4517136"/>
            <a:ext cx="10972800" cy="65836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68172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4A90E2"/>
                </a:solidFill>
                <a:latin typeface="Menlo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4626864"/>
            <a:ext cx="2743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实现后时序仿真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31920" y="4681728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A9A89F"/>
                </a:solidFill>
                <a:latin typeface="PingFang SC"/>
              </a:rPr>
              <a:t>布线后网表 + 真实 SDF 延迟，目标周期 — 签核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681728"/>
            <a:ext cx="2011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xsim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332720" y="4681728"/>
            <a:ext cx="1371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XC7S50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534924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真实案例：8×8 无流水 INT8 阵列 @ 300 MHz 目标——行为级、综合后/实现后功能仿真全部通过，但 </a:t>
            </a:r>
            <a:r>
              <a:rPr sz="1250" b="1">
                <a:solidFill>
                  <a:srgbClr val="E05252"/>
                </a:solidFill>
                <a:latin typeface="PingFang SC"/>
              </a:rPr>
              <a:t>两级时序仿真失败</a:t>
            </a:r>
            <a:r>
              <a:rPr sz="1250" b="0">
                <a:solidFill>
                  <a:srgbClr val="A9A89F"/>
                </a:solidFill>
                <a:latin typeface="PingFang SC"/>
              </a:rPr>
              <a:t>；规划器据此加 DSP 寄存器后五级全过。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向量 testbench 复用 cocotb 黄金模型（本版 cocotb 无 xsim VPI）；glbl.GSR 100 ns、负沿驱动 3/4 周期采样、Vivado 2025.2 网表注释多行 os-release 等坑都已踩平。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05 · 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真实结果：20+ 个任务 · 5 种器件 · 7 类设计，全部由真实 EDA 签核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任务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器件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约束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轮数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6002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Menlo"/>
              </a:rPr>
              <a:t>最终设计（真实 P&amp;R）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18470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8928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五级仿真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19110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19110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≥300 MHz · ≤32 DSP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18928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01000" y="18928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2×16 · 315–319.5 MHz · 32 DSP · 五级全过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21442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1899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32 阶 FIR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2082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46320" y="22082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≥250 MHz · ≤8 DSP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1899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01000" y="21899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非对称 fold=8 · 259.1 MHz · 8 DSP · 324 LUT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24414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24871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matmul（并行候选）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291840" y="25054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25054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≥130 MHz · ≤16 DSP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0" y="24871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01000" y="24871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2×8 · 205.3 MHz · 16 MULT · 975 LUT（第 2 轮 3 个候选并行）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27386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27843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 · 72 DSP 用满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91840" y="28026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846320" y="28026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≥150 MHz · ≤72 DSP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0" y="27843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01000" y="27843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3×24 · 167.6 MHz · 72 DSP · 72 MAC/cyc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48640" y="30358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30815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位 sin/cos CORDIC · 0 DSP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291840" y="30998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846320" y="30998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省 LUT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0815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01000" y="30815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4 级流水 · 211.8 MHz · 594 LUT · 0 DSP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48640" y="33329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3787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FIR → CORDIC 数据通路（graph）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291840" y="33969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846320" y="33969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≤10 DSP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33787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001000" y="33787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218.4 MHz · 1209 LUT · 3 DSP · 1 样本/周期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48640" y="36301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36758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 · 运行时系数端口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291840" y="36941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GateMate CCGM1A1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46320" y="36941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15200" y="36758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001000" y="36758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对称 fold=2 · 60.3 MHz · 4 CC_MULT · 1028 LUT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548640" y="39273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0080" y="39730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卷积（AGH 智能体全程驱动）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291840" y="39913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4846320" y="39913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315200" y="39730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6+5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01000" y="39730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286 LUT/1 px·cyc 与 236 LUT/⅓ px·cyc 两点前沿 · 形式检查通过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548640" y="42245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0080" y="42702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256 点 16 位 FFT · 自然序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291840" y="42885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846320" y="42885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≤20 MULT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315200" y="42702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001000" y="42702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cmul=three · 153.9 MHz · 18/20 MULT · 3250 LUT · 8 BRAM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48640" y="45217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40080" y="45674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 · 五级仿真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291840" y="45857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XC7S50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846320" y="45857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≥200 MHz · ≤30 DSP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45674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001000" y="45674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in_pipe_out · 219.8 MHz · 25 DSP · 469 LUT · 五级全过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548640" y="481888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0080" y="486460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3×3 高斯卷积（聊天）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291840" y="488289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iCE40 UP5K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4846320" y="488289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≥60 MHz · ≤1500 LUT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315200" y="486460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001000" y="486460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全并行 · 70.6 MHz · 273 LUT · 0 DSP · 2 BRAM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48640" y="511606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40080" y="516178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5×5 卷积 · 640 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291840" y="518007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846320" y="518007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省 LUT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315200" y="516178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001000" y="516178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125.7 MHz · 630 LUT · 9 DSP · 4 BRAM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48640" y="541324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545896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16 阶 FIR（聊天）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291840" y="547725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Gowin GW1NR-9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846320" y="547725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≥100 MHz · ≤4 DSP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15200" y="545896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01000" y="545896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fold=2 · 103.5 MHz · 4 MULT18X18 · 733 LUT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548640" y="571042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40080" y="575614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两级 FIR 级联 8→32 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291840" y="577443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846320" y="577443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≥120 MHz · ≤12 DSP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315200" y="575614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4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001000" y="575614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两级对称 fold=4 · 127.4 MHz · 5 DSP · 989 LUT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548640" y="6007608"/>
            <a:ext cx="11155680" cy="283464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640080" y="6053328"/>
            <a:ext cx="2651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PingFang SC"/>
              </a:rPr>
              <a:t>INT8 matmul（聊天 + 追问 fork）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291840" y="6071616"/>
            <a:ext cx="1554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ECP5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846320" y="6071616"/>
            <a:ext cx="2468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A9A89F"/>
                </a:solidFill>
                <a:latin typeface="Menlo"/>
              </a:rPr>
              <a:t>≥160 MHz · ≤32 DSP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15200" y="6053328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ECECE6"/>
                </a:solidFill>
                <a:latin typeface="Menlo"/>
              </a:rPr>
              <a:t>2+8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001000" y="6053328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34C759"/>
                </a:solidFill>
                <a:latin typeface="PingFang SC"/>
              </a:rPr>
              <a:t>✓ </a:t>
            </a:r>
            <a:r>
              <a:rPr sz="1000" b="0">
                <a:solidFill>
                  <a:srgbClr val="ECECE6"/>
                </a:solidFill>
                <a:latin typeface="PingFang SC"/>
              </a:rPr>
              <a:t>1×1 216.8 → 1×32 · 214.2 MHz · 32 MAC/cyc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640080" y="6144768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F6E67"/>
                </a:solidFill>
                <a:latin typeface="PingFang SC"/>
              </a:rPr>
              <a:t>每轮成本：ECP5 / iCE40 / Gowin 15–60 秒、GateMate 2–4 分钟（3 个布线种子取中位数），XC7S50 1.5–4 分钟（含五级仿真）。规划器 DeepSeek，每轮一次调用，候选可并行评估。回归基准集 14 例，每晚 03:17 自动跑并与上一次比对。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06 · 轨迹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两条真实轨迹：规划器是怎么「想」的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548640" y="1600200"/>
          <a:ext cx="5577840" cy="30175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4663440"/>
            <a:ext cx="54864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转置形式 1 样本/周期：495 MHz 但 45 DSP（Vivado 把整条 FIR 吸进 DSP 级联）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2–3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对称 + fold=2：DSP 降到 8，但乘法器操作数选择器成了墙（150–163 MHz）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4–6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fold=4 / 8、改 DSP 寄存器模式：236 / 225 / 152 MHz，都差一点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7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放弃对称共享、fold=8：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259.1 MHz · 8 DSP · 324 LUT ✓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6309360" y="1600200"/>
          <a:ext cx="5394960" cy="30175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0" y="4663440"/>
            <a:ext cx="53035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1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8×8 无流水：189.8 MHz，64 DSP，</a:t>
            </a:r>
            <a:r>
              <a:rPr sz="1150" b="0">
                <a:solidFill>
                  <a:srgbClr val="E05252"/>
                </a:solidFill>
                <a:latin typeface="PingFang SC"/>
              </a:rPr>
              <a:t>两级时序仿真失败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2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4×8 · DSP 寄存器 in_pipe_out · 累加器移出 DSP（acc_in_dsp=false）：296.3 MHz，五级全过，差 4 MHz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3 </a:t>
            </a:r>
            <a:r>
              <a:rPr sz="1150" b="0">
                <a:solidFill>
                  <a:srgbClr val="A9A89F"/>
                </a:solidFill>
                <a:latin typeface="PingFang SC"/>
              </a:rPr>
              <a:t>2×16 同配置：</a:t>
            </a:r>
            <a:r>
              <a:rPr sz="1150" b="1">
                <a:solidFill>
                  <a:srgbClr val="34C759"/>
                </a:solidFill>
                <a:latin typeface="PingFang SC"/>
              </a:rPr>
              <a:t>315.0 MHz · 32 DSP · 1994 LUT ✓</a:t>
            </a:r>
          </a:p>
          <a:p>
            <a:pPr algn="l">
              <a:lnSpc>
                <a:spcPct val="125000"/>
              </a:lnSpc>
            </a:pPr>
            <a:r>
              <a:rPr sz="1150" b="0">
                <a:solidFill>
                  <a:srgbClr val="6F6E67"/>
                </a:solidFill>
                <a:latin typeface="PingFang SC"/>
              </a:rPr>
              <a:t>acc_in_dsp 这个旋钮来自一次实测扫描：DSP48E1 的 M→P 级 2.31 ns 是 277 MHz 的天花板。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07 · 学习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设计记忆：每一步都沉淀成可召回、可验证的经验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48640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5084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一条「经验」长什么样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508406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情境：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违反类型 + 关键路径主导级 + 结构标签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IR 的差分（改了哪些旋钮）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效果：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实测 ΔFmax / ΔLUT / ΔDSP</a:t>
            </a:r>
          </a:p>
          <a:p>
            <a:pPr algn="l">
              <a:lnSpc>
                <a:spcPct val="11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一句话：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由 LLM 从以上三者蒸馏，例如——</a:t>
            </a:r>
          </a:p>
          <a:p>
            <a:pPr algn="l">
              <a:lnSpc>
                <a:spcPct val="115000"/>
              </a:lnSpc>
            </a:pPr>
            <a:r>
              <a:rPr sz="1150" b="0">
                <a:solidFill>
                  <a:srgbClr val="ECECE6"/>
                </a:solidFill>
                <a:latin typeface="PingFang SC"/>
              </a:rPr>
              <a:t>「ECP5 matmul 受 MULT18X18D 直灌 32 位进位链限制在 76.6 MHz 时，dsp_regs=in_pipe_out + pipe_mul=1 + reg_in 把乘法器隔离，Fmax 升到 216.8 MHz。」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09360" y="1645920"/>
            <a:ext cx="5303520" cy="237744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10528" y="1810512"/>
            <a:ext cx="490118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ECECE6"/>
                </a:solidFill>
                <a:latin typeface="PingFang SC"/>
              </a:rPr>
              <a:t>闭环，不是日志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10528" y="2212848"/>
            <a:ext cx="4901184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每轮规划前按特征重叠召回 top-6，写进提示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规划器如果照做了：后一轮的实测自动 </a:t>
            </a:r>
            <a:r>
              <a:rPr sz="1250" b="0">
                <a:solidFill>
                  <a:srgbClr val="34C759"/>
                </a:solidFill>
                <a:latin typeface="PingFang SC"/>
              </a:rPr>
              <a:t>确认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或 </a:t>
            </a:r>
            <a:r>
              <a:rPr sz="1250" b="0">
                <a:solidFill>
                  <a:srgbClr val="E05252"/>
                </a:solidFill>
                <a:latin typeface="PingFang SC"/>
              </a:rPr>
              <a:t>推翻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这条经验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评分 = 确认 − 1.5×推翻 + 0.5×人工投票（UI 上 👍👎）</a:t>
            </a:r>
          </a:p>
          <a:p>
            <a:pPr algn="l">
              <a:lnSpc>
                <a:spcPct val="11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• 现有 39 条经验（matmul/FIR × ECP5/XC7S50），从历史运行回填</a:t>
            </a:r>
          </a:p>
        </p:txBody>
      </p:sp>
      <p:graphicFrame>
        <p:nvGraphicFramePr>
          <p:cNvPr id="12" name="Chart 11"/>
          <p:cNvGraphicFramePr>
            <a:graphicFrameLocks noGrp="1"/>
          </p:cNvGraphicFramePr>
          <p:nvPr/>
        </p:nvGraphicFramePr>
        <p:xfrm>
          <a:off x="640080" y="4206240"/>
          <a:ext cx="5120640" cy="2103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6309360" y="4297680"/>
            <a:ext cx="53035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>有记忆的那次在第 2 轮就引用了经验 id 直接给出可行设计（295.3 MHz / 48 DSP）；无记忆的要到第 3 轮。</a:t>
            </a:r>
          </a:p>
          <a:p>
            <a:pPr algn="l">
              <a:lnSpc>
                <a:spcPct val="130000"/>
              </a:lnSpc>
            </a:pPr>
            <a:r>
              <a:rPr sz="1250" b="0">
                <a:solidFill>
                  <a:srgbClr val="6F6E67"/>
                </a:solidFill>
                <a:latin typeface="PingFang SC"/>
              </a:rPr>
              <a:t>估算校准同理：每次 EDA 结果都记录（特征, 估算, 实测），岭回归 + LOO 选 λ，只有打败原始估算时才启用。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产品形态：一个像 Claude 的聊天，细节折叠在卡片里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chat-conv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6675120" cy="417195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589520" y="1691640"/>
            <a:ext cx="411480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输入只有自然语言。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nl.interpret 产出完整规格：设计类型、器件、锁定参数、约束、目标顺序、朴素起点，并说明假设。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追问即迭代。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同一会话里再说一句：改约束 → 从上一次最佳设计 fork；运行中 → 作为工程师指令插话；提问 → 直接回答。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细节按需展开。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卡片默认折叠；展开才看到每轮 IR 差分、五级仿真、关键路径、日志。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工程师视图。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每个会话有独立的 worktable：轨迹图、架构草图、IR 旋钮、比较、fork、RTL。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部署：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netcup 上 Vivado 容器里的任务服务器，sluice SSO；笔记本只是瘦客户端（sa ask "…"）。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08 · 产品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工程师视图：每个会话一张独立的 worktable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pic>
        <p:nvPicPr>
          <p:cNvPr id="6" name="Picture 5" descr="worktable-par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45920"/>
            <a:ext cx="7863840" cy="4914900"/>
          </a:xfrm>
          <a:prstGeom prst="rect">
            <a:avLst/>
          </a:prstGeom>
          <a:ln w="9525">
            <a:solidFill>
              <a:srgbClr val="333331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778240" y="1691640"/>
            <a:ext cx="301752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一轮一个 turn。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规划器的动作、IR 差分、判定行、仿真阶段；假设 / 召回的经验 / 候选与估算 / 关键路径 / 本轮经验折叠在 details 里。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右侧 inspector。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架构草图、IR 旋钮、关键路径分解条、轨迹图、五级仿真表、RTL、记忆，以及这个设计在这颗芯片上所有历史实测点的 Pareto 前沿（图中 20 个点、10 个非支配）。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动作。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从任意一轮 fork 并改约束、同会话两次运行并排比较、重跑、删除——都留在这个会话里，并在聊天里出现为一个 turn。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A9A89F"/>
                </a:solidFill>
                <a:latin typeface="PingFang SC"/>
              </a:rPr>
              <a:t/>
            </a:r>
          </a:p>
          <a:p>
            <a:pPr algn="l">
              <a:lnSpc>
                <a:spcPct val="125000"/>
              </a:lnSpc>
            </a:pPr>
            <a:r>
              <a:rPr sz="1250" b="1">
                <a:solidFill>
                  <a:srgbClr val="ECECE6"/>
                </a:solidFill>
                <a:latin typeface="PingFang SC"/>
              </a:rPr>
              <a:t>与聊天互通。</a:t>
            </a:r>
            <a:r>
              <a:rPr sz="1250" b="0">
                <a:solidFill>
                  <a:srgbClr val="A9A89F"/>
                </a:solidFill>
                <a:latin typeface="PingFang SC"/>
              </a:rPr>
              <a:t> 聊天负责「要什么」，worktable 负责「为什么」。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09 · 平台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平台：生成器 × 器件是一张可以继续长的表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01752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0896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LFE5U-45F · nextpnr · 15–60 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75488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4632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Spartan-7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XC7S50 · Vivado · 五级仿真 · 1.5–4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9224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iCE40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UP5K · nextpnr-ice40 · 10–40 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2104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Gowin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GW1NR-9 · himbächel · 15–60 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66960" y="1554480"/>
            <a:ext cx="1645920" cy="64008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0" y="1609344"/>
            <a:ext cx="1508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PingFang SC"/>
              </a:rPr>
              <a:t>GateMate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0" y="1865376"/>
            <a:ext cx="150876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6F6E67"/>
                </a:solidFill>
                <a:latin typeface="Menlo"/>
              </a:rPr>
              <a:t>CCGM1A1 · himbächel · 2–4 min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230428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235000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matmul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259689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output-stationary systolic INT 阵列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01752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5488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4632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9224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68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32104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966960" y="230428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0" y="244144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2907792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" y="2953512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fir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" y="3200400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定系数 / 运行时系数 FIR：转置 / 折叠 / 对称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01752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10896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75488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4632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49224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8368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2104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9966960" y="2907792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0" y="3044952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3511296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7240" y="3557016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conv2d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7240" y="3803904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K×K 流式卷积：BRAM 行缓冲 + 加法树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01752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10896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75488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649224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8368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22960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32104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966960" y="3511296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058400" y="3648456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640080" y="4114800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77240" y="41605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cordic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77240" y="4407408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旋转 / 向量模式，展开或折叠，位精确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01752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10896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75488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84632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649224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8368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822960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32104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9966960" y="4114800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058400" y="4251960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40080" y="4718304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77240" y="4764024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fft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77240" y="5010912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radix-2 SDF，16–4096 点，4/3/0 乘法器复乘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01752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10896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5488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4632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649224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58368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22960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32104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9966960" y="4718304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0058400" y="4855464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640080" y="5321808"/>
            <a:ext cx="2286000" cy="530352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777240" y="5367528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CECE6"/>
                </a:solidFill>
                <a:latin typeface="Menlo"/>
              </a:rPr>
              <a:t>graph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77240" y="5614416"/>
            <a:ext cx="21031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6F6E67"/>
                </a:solidFill>
                <a:latin typeface="PingFang SC"/>
              </a:rPr>
              <a:t>通用 IR 图：任意 fir/conv/cordic/fft 节点经 FIFO 级联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01752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34C75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310896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34C759"/>
                </a:solidFill>
                <a:latin typeface="PingFang SC"/>
              </a:rPr>
              <a:t>● 真实任务达标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475488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484632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649224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658368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822960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262624"/>
          </a:solidFill>
          <a:ln w="9525">
            <a:solidFill>
              <a:srgbClr val="4A90E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32104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4A90E2"/>
                </a:solidFill>
                <a:latin typeface="PingFang SC"/>
              </a:rPr>
              <a:t>● EDA + 网表仿真通过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9966960" y="5321808"/>
            <a:ext cx="1645920" cy="530352"/>
          </a:xfrm>
          <a:prstGeom prst="roundRect">
            <a:avLst>
              <a:gd name="adj" fmla="val 6000"/>
            </a:avLst>
          </a:prstGeom>
          <a:solidFill>
            <a:srgbClr val="0E0E0D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058400" y="5458968"/>
            <a:ext cx="15087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>
                <a:solidFill>
                  <a:srgbClr val="6F6E67"/>
                </a:solidFill>
                <a:latin typeface="PingFang SC"/>
              </a:rPr>
              <a:t>○ 未跑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640080" y="589788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加一种器件 = backends/ 下一个文件（器件事实 + 跑工具 + 解析报告）；加一类设计 = 一个 IR + 生成器 + 黄金模型 + 估算 + 规划知识。提示词、估算、表单、自然语言解释器都从注册表取。</a:t>
            </a:r>
          </a:p>
          <a:p>
            <a:pPr algn="l">
              <a:lnSpc>
                <a:spcPct val="12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黑盒原语自己建模：</a:t>
            </a:r>
            <a:r>
              <a:rPr sz="1100" b="0">
                <a:solidFill>
                  <a:srgbClr val="A9A89F"/>
                </a:solidFill>
                <a:latin typeface="PingFang SC"/>
              </a:rPr>
              <a:t>DP16KD / Gowin BRAM / MULT 的仿真模型按 yosys 的驱动方式写出，所以每个开源后端都能跑综合后网表仿真。Artix-7 后端已写好，等 Vivado 装上器件文件即启用。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10 · 可信 · 交付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可信与交付：让结论可证明，让结果能直接用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形式等价（SymbiYosys BMC）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miter 把「实测过的 RTL」和「同一 IR 的重新生成」接同一组自由输入，逐拍断言所有输出相等；外加流形协议性质（复位期间无 valid、无握手撤回）。正/负对照都验证过：篡改一份就 FAIL。生成器重构从此有闸门。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功能覆盖率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每个 cocotb 测试上报命名 bins（背靠背 / 间隔 / 反压停顿 / 极值操作数 / 帧重启…）进 sim_coverage；「仿真通过」会说明到底练了什么。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34C759"/>
                </a:solidFill>
                <a:latin typeface="PingFang SC"/>
              </a:rPr>
              <a:t>每晚回归 + 退化告警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14 个固定规格 × 期望（可行 / 几轮内可行），03:17 由 cron 在 EDA 主机上跑开源后端，与上一份报告逐例比对，退化即标红（/api/bench）。多种子 Fmax：3 个种子取中位数并显示区间。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停机必须给证据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规划器只能带着 stop_reason 停：触到了哪个上界（DSP 上限、累加位宽下限、乘法器本征级）。叙述里直接说「为什么停」；候选并行评估时，次优点也进历史。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PingFang SC"/>
              </a:rPr>
              <a:t>跨运行 Pareto + 功耗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同一设计在同一芯片上的所有实测点取非支配集，「≥180 MHz、≤32 DSP 最好能到多少」从实测点回答；Vivado report_power → power_mw 可作约束与目标。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D95926"/>
                </a:solidFill>
                <a:latin typeface="PingFang SC"/>
              </a:rPr>
              <a:t>交付包 + 板级工程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zip：RTL + AXI4-Stream 包装（FIR 可带 AXI4-Lite 系数端口）+ 自检向量 testbench + 工具报告 + 轨迹 + README + create_vivado.tcl/XDC 或 build_oss.sh。拖进 IP Integrator 就能用。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11 · 定位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和最新文献的关系：我们把「意图 IR + 真实 EDA 反馈 + 经验池」做成了产品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5564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HINT (arXiv 2608.07625)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175564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规格与 RTL 之间插一层可执行的「硬件意图」IR，RTL 前就能检查；7/7 可综合，面积比手写低 5–26%。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175564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我们的架构 IR 就是这一层——但它只有十几个旋钮，由确定性生成器落地，正确性靠构造而非检查。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74320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85292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RTLScout (Huawei, 2606.06530)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285292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ReAct 智能体 + Yosys/OpenROAD 反馈，多次运行共享精英池和「经验」，FP16 乘法器面积 −35%、延迟 −45%。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0" y="285292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设计记忆 = 他们的 lessons，但每条带情境/动作/实测效果，并由后续运行自动确认或推翻。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4048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395020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REvolution (ASP-DAC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395020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进化算法 + LLM：种群、Thought/Code/Feedback 三元组、六种提示算子、PPA 适应度；VerilogEval 95.5%。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395020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我们每轮取 ≤3 候选、闭式估算筛选只送 1 个进 EDA——在真实 P&amp;R 每轮分钟级的预算下比种群更省。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937760"/>
            <a:ext cx="11064240" cy="1024128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047488"/>
            <a:ext cx="29260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CRADLE / ResBench (2025)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49039" y="5047488"/>
            <a:ext cx="39319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A9A89F"/>
                </a:solidFill>
                <a:latin typeface="PingFang SC"/>
              </a:rPr>
              <a:t>多智能体会话式 DSE 面向 FPGA 资源目标；ResBench 是首个资源感知的 FPGA 生成基准（56 题）。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047488"/>
            <a:ext cx="38404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34C759"/>
                </a:solidFill>
                <a:latin typeface="PingFang SC"/>
              </a:rPr>
              <a:t>→ </a:t>
            </a:r>
            <a:r>
              <a:rPr sz="1050" b="0">
                <a:solidFill>
                  <a:srgbClr val="ECECE6"/>
                </a:solidFill>
                <a:latin typeface="PingFang SC"/>
              </a:rPr>
              <a:t>我们的基准集是任务级（约束 + 期望轮数），衡量的是「闭环能否收敛」而不是单次生成。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共同结论：LLM 的价值来自「推理 + 外部定量反馈」，而不是生成质量本身。我们的反馈是真实布局布线 + 五级仿真，每轮都是。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12 · 积累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护城河是「实测过的器件事实」，不是提示词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ECP5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24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永远不会把流水寄存器打包进 MULT18X18D → 必须显式例化并用 REG_* 参数（76 → 147 MHz）。级联口 SRIA/SRIB 悬空否则 nextpnr 路由不了 GND 网。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45920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4808" y="1810512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XC7S50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64808" y="2212848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8×8 乘法需要 (* use_dsp="yes" *) 才进 DSP48E1；pipe_mul&gt;0 会让 Vivado 用 2 个 DSP/PE；DSP48E1 的 M→P 级 2.31 ns 是 277 MHz 天花板，累加器移到 CARRY4 后 299–319 MHz。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FIR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yosys 对行为级乘法会自动常量折叠零系数、共享相等系数——symmetric 旗标没用，除非显式 DSP；Vivado 会把整条转置 FIR 吸进 DSP 级联（495 MHz，1 LUT，45 DSP）。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27248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64808" y="3291840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仿真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64808" y="3694176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glbl.GSR 让触发器保持 100 ns；-transport_int_delays -pulse_r 0 会产生伪 X；ECP5 的 cells_sim.v 重复 include 要去重；yosys 的 DP16KD / Gowin BRAM / MULT 都是黑盒，要按它的驱动方式自建仿真模型。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iCE40 / Gowin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nextpnr-ice40 没有 out-of-context → 串行 IO 外壳包住核心再布线；himbächel 必须给引脚约束；synth_gowin 会留下不可放置的 $buf（未驱动的部分总线）→ setundef + opt_clean。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608576"/>
            <a:ext cx="5394960" cy="13716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8" y="4773168"/>
            <a:ext cx="499262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A90E2"/>
                </a:solidFill>
                <a:latin typeface="Menlo"/>
              </a:rPr>
              <a:t>LLM 的坏习惯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5175504"/>
            <a:ext cx="4992624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A9A89F"/>
                </a:solidFill>
                <a:latin typeface="PingFang SC"/>
              </a:rPr>
              <a:t>为了最小化 LUT 把 INT8 改成 INT4（→ locked）；把 1×1 PE 当成「省资源」（→ 吞吐优先的解释规则）；把 160 MHz 擅自加到 170（→ 按原话取数）。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126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6F6E67"/>
                </a:solidFill>
                <a:latin typeface="PingFang SC"/>
              </a:rPr>
              <a:t>这些都写进了规划器的「器件事实」提示和设计记忆——每一条都附带实测数字。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A90E2"/>
                </a:solidFill>
                <a:latin typeface="Menlo"/>
              </a:rPr>
              <a:t>13 · 路线图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5156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ECECE6"/>
                </a:solidFill>
                <a:latin typeface="PingFang SC"/>
              </a:rPr>
              <a:t>路线图：本周做完的，和下一步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002975" y="640080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40080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F6E67"/>
                </a:solidFill>
                <a:latin typeface="Menlo"/>
              </a:rPr>
              <a:t>▣ silicon-agent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45920"/>
            <a:ext cx="3566160" cy="73152"/>
          </a:xfrm>
          <a:prstGeom prst="rect">
            <a:avLst/>
          </a:prstGeom>
          <a:solidFill>
            <a:srgbClr val="34C7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4124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34C759"/>
                </a:solidFill>
                <a:latin typeface="PingFang SC"/>
              </a:rPr>
              <a:t>已完成（本周）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5 种器件插件：ECP5 / Spartan-7 / iCE40 / Gowin / GateMate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7 类生成器：matmul、FIR(+系数端口)、conv2d、FIR 级联、CORDIC、FFT、通用 IR 图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并行候选评估 + kNN 校准估算（Gowin Fmax 误差 53%→13%）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形式等价 + 覆盖率 + 每晚回归告警 + 多种子 Fmax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交付包含板级工程；规划器多模型 A/B 开关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✓ 聊天：ETA、架构替代方案一键追问、会话隔离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89120" y="1645920"/>
            <a:ext cx="3566160" cy="73152"/>
          </a:xfrm>
          <a:prstGeom prst="rect">
            <a:avLst/>
          </a:prstGeom>
          <a:solidFill>
            <a:srgbClr val="4A90E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90288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4A90E2"/>
                </a:solidFill>
                <a:latin typeface="PingFang SC"/>
              </a:rPr>
              <a:t>下一步 · 扩大空间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90288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Artix-7 / UltraScale+：装上 Vivado 器件文件即启用（后端已写好）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更多节点：池化、滑窗 max、dot-product 折叠 matmul、CIC 抽取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估算器上做贝叶斯优化：用 kNN 后验直接提候选，减少规划器调用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多模型规划器基准对照（DeepSeek-reasoner / Claude / GPT）跑进每晚回归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59" y="1645920"/>
            <a:ext cx="3566160" cy="4572000"/>
          </a:xfrm>
          <a:prstGeom prst="roundRect">
            <a:avLst>
              <a:gd name="adj" fmla="val 6000"/>
            </a:avLst>
          </a:prstGeom>
          <a:solidFill>
            <a:srgbClr val="1C1C1B"/>
          </a:solidFill>
          <a:ln w="9525">
            <a:solidFill>
              <a:srgbClr val="33333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59" y="1645920"/>
            <a:ext cx="3566160" cy="73152"/>
          </a:xfrm>
          <a:prstGeom prst="rect">
            <a:avLst/>
          </a:prstGeom>
          <a:solidFill>
            <a:srgbClr val="D9A21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39327" y="1874519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D9A21B"/>
                </a:solidFill>
                <a:latin typeface="PingFang SC"/>
              </a:rPr>
              <a:t>更远 · 平台化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39327" y="2331720"/>
            <a:ext cx="32004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有板后：ILA/VIO 在板验证作为第六级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开放 IR 规范（/schema 已导出），让外部生成器接入；设计记忆跨用户共享（可审计）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形式等价扩展到跨 IR（折叠 vs 展开同一滤波器）</a:t>
            </a:r>
          </a:p>
          <a:p>
            <a:pPr algn="l">
              <a:lnSpc>
                <a:spcPct val="130000"/>
              </a:lnSpc>
            </a:pPr>
            <a:r>
              <a:rPr sz="1150" b="0">
                <a:solidFill>
                  <a:srgbClr val="A9A89F"/>
                </a:solidFill>
                <a:latin typeface="PingFang SC"/>
              </a:rPr>
              <a:t>• 从 SDF 时序仿真到门级功耗估计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E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82880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ECECE6"/>
                </a:solidFill>
                <a:latin typeface="PingFang SC"/>
              </a:rPr>
              <a:t>说一句话，拿到签核过的 Verilog。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017520"/>
            <a:ext cx="105156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7 类生成器（matmul、FIR、conv2d、FIR 级联、CORDIC、FFT、通用 IR 图）× 5 种器件，20+ 个真实任务达标，最高 319.5 MHz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五级仿真阶梯 + 真实布局布线签核 + 3 种子中位数 Fmax + SymbiYosys 形式等价，没有一个估算数字进结论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自动验证的设计经验池；14 例回归每晚自动跑并告警；交付包含 AXI-Stream 包装与板级工程</a:t>
            </a:r>
          </a:p>
          <a:p>
            <a:pPr algn="l">
              <a:lnSpc>
                <a:spcPct val="140000"/>
              </a:lnSpc>
            </a:pPr>
            <a:r>
              <a:rPr sz="1600" b="0">
                <a:solidFill>
                  <a:srgbClr val="A9A89F"/>
                </a:solidFill>
                <a:latin typeface="PingFang SC"/>
              </a:rPr>
              <a:t>• 3 天、约 9,610 行 Python/JS，38 次提交；已部署，笔记本是瘦客户端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566928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A90E2"/>
                </a:solidFill>
                <a:latin typeface="Menlo"/>
              </a:rPr>
              <a:t>https://silicon.w33d.xyz   ·   ~/Playground/silicon-agent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