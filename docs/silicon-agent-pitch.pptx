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solidFill>
                  <a:srgbClr val="ECECE6"/>
                </a:solidFill>
              </a:rPr>
              <a:t>32 阶 FIR · XC7S50 · ≥250 MHz, ≤8 DSP · Fmax/轮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Fmax (MHz)</c:v>
                </c:pt>
              </c:strCache>
            </c:strRef>
          </c:tx>
          <c:spPr>
            <a:ln w="25400">
              <a:solidFill>
                <a:srgbClr val="4A90E2"/>
              </a:solidFill>
            </a:ln>
          </c:spPr>
          <c:marker>
            <c:symbol val="circle"/>
            <c:size val="7"/>
            <c:spPr>
              <a:solidFill>
                <a:srgbClr val="4A90E2"/>
              </a:solidFill>
            </c:spPr>
          </c:marker>
          <c:dPt>
            <c:idx val="0"/>
            <c:marker>
              <c:symbol val="circle"/>
              <c:size val="8"/>
              <c:spPr>
                <a:solidFill>
                  <a:srgbClr val="E05252"/>
                </a:solidFill>
              </c:spPr>
            </c:marker>
          </c:dPt>
          <c:dPt>
            <c:idx val="1"/>
            <c:marker>
              <c:symbol val="circle"/>
              <c:size val="8"/>
              <c:spPr>
                <a:solidFill>
                  <a:srgbClr val="E05252"/>
                </a:solidFill>
              </c:spPr>
            </c:marker>
          </c:dPt>
          <c:dPt>
            <c:idx val="2"/>
            <c:marker>
              <c:symbol val="circle"/>
              <c:size val="8"/>
              <c:spPr>
                <a:solidFill>
                  <a:srgbClr val="E05252"/>
                </a:solidFill>
              </c:spPr>
            </c:marker>
          </c:dPt>
          <c:dPt>
            <c:idx val="3"/>
            <c:marker>
              <c:symbol val="circle"/>
              <c:size val="8"/>
              <c:spPr>
                <a:solidFill>
                  <a:srgbClr val="E05252"/>
                </a:solidFill>
              </c:spPr>
            </c:marker>
          </c:dPt>
          <c:dPt>
            <c:idx val="4"/>
            <c:marker>
              <c:symbol val="circle"/>
              <c:size val="8"/>
              <c:spPr>
                <a:solidFill>
                  <a:srgbClr val="E05252"/>
                </a:solidFill>
              </c:spPr>
            </c:marker>
          </c:dPt>
          <c:dPt>
            <c:idx val="5"/>
            <c:marker>
              <c:symbol val="circle"/>
              <c:size val="8"/>
              <c:spPr>
                <a:solidFill>
                  <a:srgbClr val="E05252"/>
                </a:solidFill>
              </c:spPr>
            </c:marker>
          </c:dPt>
          <c:dPt>
            <c:idx val="6"/>
            <c:marker>
              <c:symbol val="circle"/>
              <c:size val="8"/>
              <c:spPr>
                <a:solidFill>
                  <a:srgbClr val="34C759"/>
                </a:solidFill>
              </c:spPr>
            </c:marker>
          </c:dPt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495.5</c:v>
                </c:pt>
                <c:pt idx="1">
                  <c:v>163.1</c:v>
                </c:pt>
                <c:pt idx="2">
                  <c:v>150.0</c:v>
                </c:pt>
                <c:pt idx="3">
                  <c:v>236.6</c:v>
                </c:pt>
                <c:pt idx="4">
                  <c:v>225.5</c:v>
                </c:pt>
                <c:pt idx="5">
                  <c:v>152.1</c:v>
                </c:pt>
                <c:pt idx="6">
                  <c:v>259.1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3331"/>
            </a:solidFill>
          </a:ln>
        </c:spPr>
        <c:txPr>
          <a:bodyPr/>
          <a:lstStyle/>
          <a:p>
            <a:pPr>
              <a:defRPr sz="1000">
                <a:solidFill>
                  <a:srgbClr val="A9A89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262624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33331"/>
            </a:solidFill>
          </a:ln>
        </c:spPr>
        <c:txPr>
          <a:bodyPr/>
          <a:lstStyle/>
          <a:p>
            <a:pPr>
              <a:defRPr sz="1000">
                <a:solidFill>
                  <a:srgbClr val="A9A89F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000">
          <a:solidFill>
            <a:srgbClr val="A9A89F"/>
          </a:solidFill>
          <a:latin typeface="PingFang S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>
                <a:solidFill>
                  <a:srgbClr val="ECECE6"/>
                </a:solidFill>
              </a:rPr>
              <a:t>INT8 matmul · XC7S50 · ≥300 MHz, ≤32 DSP · Fmax/轮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Fmax (MHz)</c:v>
                </c:pt>
              </c:strCache>
            </c:strRef>
          </c:tx>
          <c:dPt>
            <c:idx val="0"/>
            <c:spPr>
              <a:solidFill>
                <a:srgbClr val="E05252"/>
              </a:solidFill>
            </c:spPr>
          </c:dPt>
          <c:dPt>
            <c:idx val="1"/>
            <c:spPr>
              <a:solidFill>
                <a:srgbClr val="D9A21B"/>
              </a:solidFill>
            </c:spPr>
          </c:dPt>
          <c:dPt>
            <c:idx val="2"/>
            <c:spPr>
              <a:solidFill>
                <a:srgbClr val="34C759"/>
              </a:solidFill>
            </c:spPr>
          </c:dPt>
          <c:cat>
            <c:strRef>
              <c:f>Sheet1!$A$2:$A$4</c:f>
              <c:strCach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189.8</c:v>
                </c:pt>
                <c:pt idx="1">
                  <c:v>296.3</c:v>
                </c:pt>
                <c:pt idx="2">
                  <c:v>315.0</c:v>
                </c:pt>
              </c:numCache>
            </c:numRef>
          </c:val>
        </c:ser>
        <c:gapWidth val="1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333331"/>
            </a:solidFill>
          </a:ln>
        </c:spPr>
        <c:txPr>
          <a:bodyPr/>
          <a:lstStyle/>
          <a:p>
            <a:pPr>
              <a:defRPr sz="1000">
                <a:solidFill>
                  <a:srgbClr val="A9A89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62624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33331"/>
            </a:solidFill>
          </a:ln>
        </c:spPr>
        <c:txPr>
          <a:bodyPr/>
          <a:lstStyle/>
          <a:p>
            <a:pPr>
              <a:defRPr sz="1000">
                <a:solidFill>
                  <a:srgbClr val="A9A89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A9A89F"/>
          </a:solidFill>
          <a:latin typeface="PingFang S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ECECE6"/>
                </a:solidFill>
              </a:rPr>
              <a:t>A/B：同一规格（XC7S50 · ≥280 MHz · ≤48 DSP）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首次可行所需轮数</c:v>
                </c:pt>
              </c:strCache>
            </c:strRef>
          </c:tx>
          <c:spPr>
            <a:solidFill>
              <a:srgbClr val="4A90E2"/>
            </a:solidFill>
          </c:spPr>
          <c:cat>
            <c:strRef>
              <c:f>Sheet1!$A$2:$A$3</c:f>
              <c:strCache>
                <c:ptCount val="2"/>
                <c:pt idx="0">
                  <c:v>有记忆</c:v>
                </c:pt>
                <c:pt idx="1">
                  <c:v>无记忆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100">
                  <a:solidFill>
                    <a:srgbClr val="ECECE6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333331"/>
            </a:solidFill>
          </a:ln>
        </c:spPr>
        <c:txPr>
          <a:bodyPr/>
          <a:lstStyle/>
          <a:p>
            <a:pPr>
              <a:defRPr sz="1000">
                <a:solidFill>
                  <a:srgbClr val="A9A89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262624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333331"/>
            </a:solidFill>
          </a:ln>
        </c:spPr>
        <c:txPr>
          <a:bodyPr/>
          <a:lstStyle/>
          <a:p>
            <a:pPr>
              <a:defRPr sz="1000">
                <a:solidFill>
                  <a:srgbClr val="A9A89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A9A89F"/>
          </a:solidFill>
          <a:latin typeface="PingFang S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A90E2"/>
                </a:solidFill>
                <a:latin typeface="Menlo"/>
              </a:rPr>
              <a:t>▣ silicon-agent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7899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ECECE6"/>
                </a:solidFill>
                <a:latin typeface="PingFang SC"/>
              </a:rPr>
              <a:t>一句话，换一份签核过的 Verilog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A9A89F"/>
                </a:solidFill>
                <a:latin typeface="PingFang SC"/>
              </a:rPr>
              <a:t>自然语言 → 架构 IR → RTL → 仿真 → 综合 → 布局布线 → 诊断 → 下一轮，直到时序和资源约束全部满足。
真实 EDA 工具是唯一的 ground truth：没有一个数字是估出来的。5 种器件 · 7 类生成器 · 形式等价 · 每晚回归 · 已部署。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F6E67"/>
                </a:solidFill>
                <a:latin typeface="Menlo"/>
              </a:rPr>
              <a:t>2026-10 · 路演 · w33d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90E2"/>
                </a:solidFill>
                <a:latin typeface="Menlo"/>
              </a:rPr>
              <a:t>01 · 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CECE6"/>
                </a:solidFill>
                <a:latin typeface="PingFang SC"/>
              </a:rPr>
              <a:t>问题：从「想要一个加速器」到「能跑的 RTL」是几天的人肉循环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▣ silicon-agent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474720" cy="169164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01952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1  写 RTL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04288"/>
            <a:ext cx="307238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手写几百行 SystemVerilog，一个流水级改动牵一发动全身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474720" cy="169164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901952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2  写测试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304288"/>
            <a:ext cx="307238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testbench、golden model、覆盖率，比 RTL 还多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737360"/>
            <a:ext cx="3474720" cy="169164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7" y="1901952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3  跑综合 / P&amp;R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7" y="2304288"/>
            <a:ext cx="307238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ECP5 30 秒，Vivado 几分钟；每天只能试十几种结构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657600"/>
            <a:ext cx="3474720" cy="169164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3822192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4  看时序报告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224528"/>
            <a:ext cx="307238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关键路径在哪一级？是乘法器、进位链还是布线？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657600"/>
            <a:ext cx="3474720" cy="169164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3822192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5  改架构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4224528"/>
            <a:ext cx="307238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折叠、流水、DSP 寄存器配置……经验决定一切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3657600"/>
            <a:ext cx="3474720" cy="169164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7" y="3822192"/>
            <a:ext cx="30723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6  再来一遍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7" y="4224528"/>
            <a:ext cx="3072384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一个 FIR 调到 250 MHz 要试 5–10 版本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7150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D9A21B"/>
                </a:solidFill>
                <a:latin typeface="PingFang SC"/>
              </a:rPr>
              <a:t>LLM 直接写 Verilog 并不解决这个问题：它写出来的代码没法保证可综合、可仿真，更不知道自己写的东西在芯片上跑多快。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90E2"/>
                </a:solidFill>
                <a:latin typeface="Menlo"/>
              </a:rPr>
              <a:t>02 · 核心思路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CECE6"/>
                </a:solidFill>
                <a:latin typeface="PingFang SC"/>
              </a:rPr>
              <a:t>思路：让 LLM 改「架构」，不让它写「代码」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▣ silicon-agent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10512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架构 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316382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一个不可变的 dataclass，十几个旋钮：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Menlo"/>
              </a:rPr>
              <a:t>pe_rows · pe_cols · acc_width · pipe_mul · reg_in · dsp_regs · acc_in_dsp · fold · symmetric …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LLM 每轮只输出一个新的 IR（JSON）。它不写 RTL，不写 testbench。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810512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确定性生成器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212848"/>
            <a:ext cx="316382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IR → SystemVerilog，构造即正确。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接口是 latency-insensitive 的 valid/ready 流：无论怎么加流水级、折叠，testbench 不用改。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ECP5：显式例化 MULT18X18D；Spartan-7：行为级 DSP48E1 推断 + 属性控制。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566160" cy="393192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810512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EDA 是 ground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12848"/>
            <a:ext cx="3163824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cocotb + iverilog 对 Python 黄金模型；yosys + nextpnr / Vivado 2025.2 真实布局布线。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Fmax、LUT、DSP、关键路径逐级分解——全部来自工具报告，喂回 LLM 做诊断。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约束 = 硬过滤；目标 = 字典序。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4A90E2"/>
                </a:solidFill>
                <a:latin typeface="PingFang SC"/>
              </a:rPr>
              <a:t>结果：LLM 的每一个决定都被真实工具立刻打分；它只能在一个「永远可综合、永远可仿真」的空间里搜索。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90E2"/>
                </a:solidFill>
                <a:latin typeface="Menlo"/>
              </a:rPr>
              <a:t>02b · 运行时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CECE6"/>
                </a:solidFill>
                <a:latin typeface="PingFang SC"/>
              </a:rPr>
              <a:t>智能体底座：Agnes Harness（AGH）跑模型循环，silicon-agent 是它的插件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▣ silicon-agent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10512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AGH 负责什么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3163824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模型循环（DeepSeek 作为 provider）、每次工具调用的输入/结构化输出记录、审批、会话历史与压缩、可恢复的任务状态。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一个对话 = 一个 AGH 会话；前端显示的「智能体过程」就是 AGH 的工具账本，每轮回复下面是它的费用账本（模型调用次数、token、估算美元、用时）。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作业服务器重启不丢轮次：从 AGH 的会话投影重建这一轮，或让智能体按自己的记录续接。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810512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silicon-agent 提供什么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212848"/>
            <a:ext cx="3163824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agh-plugin：12 个 sa_* 工具（schema / interpret / estimate / run / job / steer / stop / jobs / pareto / job_file / formal / bench）+ 一个 Skill「怎么把需求跑到签核」。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两个钩子：context 注入方法论，tool_call 在聊天会话里拒绝 write/shell 等宿主工具——所有变更都经作业服务器。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566160" cy="402336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810512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魔改了什么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12848"/>
            <a:ext cx="3163824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fork 里加了 `silicon` 配方（只读宿主工具集）；DeepSeek 凭证走 AGH 的加密凭证库（目录必须 0700）。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部署：compose 里第二个容器跑 agnesd，共享 /srv/sa，启动时自动配置 DeepSeek + 安装/信任/启用插件。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34C759"/>
                </a:solidFill>
                <a:latin typeface="PingFang SC"/>
              </a:rPr>
              <a:t>agent 自己发现过一个仿真库 bug（Gowin ALU 模型常量输入下永远 X），修掉后它重跑收敛到 236 LUT。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34C759"/>
                </a:solidFill>
                <a:latin typeface="PingFang SC"/>
              </a:rPr>
              <a:t>深思模式（V4 Pro + thinking）从关键路径推出「生成器缺一个旋钮」——做成 sum_tree 后 iCE40 FIR 49.5→55.0 MHz，形式验证通过。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4A90E2"/>
                </a:solidFill>
                <a:latin typeface="PingFang SC"/>
              </a:rPr>
              <a:t>结果：规划、工具记录、审批、会话都在一个有审计的底座上；silicon-agent 只写领域能力。换模型 = 换 AGH provider。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90E2"/>
                </a:solidFill>
                <a:latin typeface="Menlo"/>
              </a:rPr>
              <a:t>03 · 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CECE6"/>
                </a:solidFill>
                <a:latin typeface="PingFang SC"/>
              </a:rPr>
              <a:t>闭环：规划 → 生成 → 仿真 → 综合/P&amp;R → 诊断 → 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▣ silicon-agent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170432" cy="118872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6F6E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1100" b="1">
                <a:solidFill>
                  <a:srgbClr val="ECECE6"/>
                </a:solidFill>
                <a:latin typeface="PingFang SC"/>
              </a:rPr>
              <a:t>用户</a:t>
            </a:r>
          </a:p>
          <a:p>
            <a:pPr algn="ctr"/>
            <a:r>
              <a:rPr sz="1000" b="0">
                <a:solidFill>
                  <a:srgbClr val="A9A89F"/>
                </a:solidFill>
                <a:latin typeface="PingFang SC"/>
              </a:rPr>
              <a:t>自然语言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0784" y="25603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6F6E67"/>
                </a:solidFill>
                <a:latin typeface="PingFang SC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10512" y="2103120"/>
            <a:ext cx="1170432" cy="118872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1100" b="1">
                <a:solidFill>
                  <a:srgbClr val="ECECE6"/>
                </a:solidFill>
                <a:latin typeface="PingFang SC"/>
              </a:rPr>
              <a:t>nl.interpret</a:t>
            </a:r>
          </a:p>
          <a:p>
            <a:pPr algn="ctr"/>
            <a:r>
              <a:rPr sz="1000" b="0">
                <a:solidFill>
                  <a:srgbClr val="A9A89F"/>
                </a:solidFill>
                <a:latin typeface="PingFang SC"/>
              </a:rPr>
              <a:t>→ 规格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62656" y="25603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6F6E67"/>
                </a:solidFill>
                <a:latin typeface="PingFang SC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72384" y="2103120"/>
            <a:ext cx="1170432" cy="118872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1100" b="1">
                <a:solidFill>
                  <a:srgbClr val="ECECE6"/>
                </a:solidFill>
                <a:latin typeface="PingFang SC"/>
              </a:rPr>
              <a:t>规划器</a:t>
            </a:r>
          </a:p>
          <a:p>
            <a:pPr algn="ctr"/>
            <a:r>
              <a:rPr sz="1000" b="0">
                <a:solidFill>
                  <a:srgbClr val="A9A89F"/>
                </a:solidFill>
                <a:latin typeface="PingFang SC"/>
              </a:rPr>
              <a:t>(DeepSeek)</a:t>
            </a:r>
          </a:p>
          <a:p>
            <a:pPr algn="ctr"/>
            <a:r>
              <a:rPr sz="1000" b="0">
                <a:solidFill>
                  <a:srgbClr val="A9A89F"/>
                </a:solidFill>
                <a:latin typeface="PingFang SC"/>
              </a:rPr>
              <a:t>≤3 个候选 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25603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6F6E67"/>
                </a:solidFill>
                <a:latin typeface="PingFang SC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103120"/>
            <a:ext cx="1170432" cy="118872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D9A2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1100" b="1">
                <a:solidFill>
                  <a:srgbClr val="ECECE6"/>
                </a:solidFill>
                <a:latin typeface="PingFang SC"/>
              </a:rPr>
              <a:t>筛选</a:t>
            </a:r>
          </a:p>
          <a:p>
            <a:pPr algn="ctr"/>
            <a:r>
              <a:rPr sz="1000" b="0">
                <a:solidFill>
                  <a:srgbClr val="A9A89F"/>
                </a:solidFill>
                <a:latin typeface="PingFang SC"/>
              </a:rPr>
              <a:t>闭式估算 + 校准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5603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6F6E67"/>
                </a:solidFill>
                <a:latin typeface="PingFang SC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96128" y="2103120"/>
            <a:ext cx="1170432" cy="118872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A9A8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1100" b="1">
                <a:solidFill>
                  <a:srgbClr val="ECECE6"/>
                </a:solidFill>
                <a:latin typeface="PingFang SC"/>
              </a:rPr>
              <a:t>生成器</a:t>
            </a:r>
          </a:p>
          <a:p>
            <a:pPr algn="ctr"/>
            <a:r>
              <a:rPr sz="1000" b="0">
                <a:solidFill>
                  <a:srgbClr val="A9A89F"/>
                </a:solidFill>
                <a:latin typeface="PingFang SC"/>
              </a:rPr>
              <a:t>IR → 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5603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6F6E67"/>
                </a:solidFill>
                <a:latin typeface="PingFang SC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2103120"/>
            <a:ext cx="1170432" cy="118872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1100" b="1">
                <a:solidFill>
                  <a:srgbClr val="ECECE6"/>
                </a:solidFill>
                <a:latin typeface="PingFang SC"/>
              </a:rPr>
              <a:t>仿真阶梯</a:t>
            </a:r>
          </a:p>
          <a:p>
            <a:pPr algn="ctr"/>
            <a:r>
              <a:rPr sz="1000" b="0">
                <a:solidFill>
                  <a:srgbClr val="A9A89F"/>
                </a:solidFill>
                <a:latin typeface="PingFang SC"/>
              </a:rPr>
              <a:t>行为级 … 实现后时序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25603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6F6E67"/>
                </a:solidFill>
                <a:latin typeface="PingFang SC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2103120"/>
            <a:ext cx="1170432" cy="118872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D959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1100" b="1">
                <a:solidFill>
                  <a:srgbClr val="ECECE6"/>
                </a:solidFill>
                <a:latin typeface="PingFang SC"/>
              </a:rPr>
              <a:t>综合 + P&amp;R</a:t>
            </a:r>
          </a:p>
          <a:p>
            <a:pPr algn="ctr"/>
            <a:r>
              <a:rPr sz="1000" b="0">
                <a:solidFill>
                  <a:srgbClr val="A9A89F"/>
                </a:solidFill>
                <a:latin typeface="PingFang SC"/>
              </a:rPr>
              <a:t>nextpnr / Vivado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6" y="25603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6F6E67"/>
                </a:solidFill>
                <a:latin typeface="PingFang SC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81744" y="2103120"/>
            <a:ext cx="1170432" cy="118872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E052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1100" b="1">
                <a:solidFill>
                  <a:srgbClr val="ECECE6"/>
                </a:solidFill>
                <a:latin typeface="PingFang SC"/>
              </a:rPr>
              <a:t>诊断</a:t>
            </a:r>
          </a:p>
          <a:p>
            <a:pPr algn="ctr"/>
            <a:r>
              <a:rPr sz="1000" b="0">
                <a:solidFill>
                  <a:srgbClr val="A9A89F"/>
                </a:solidFill>
                <a:latin typeface="PingFang SC"/>
              </a:rPr>
              <a:t>关键路径分解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33888" y="2560320"/>
            <a:ext cx="137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6F6E67"/>
                </a:solidFill>
                <a:latin typeface="PingFang SC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43616" y="2103120"/>
            <a:ext cx="1170432" cy="118872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wrap="square"/>
          <a:lstStyle/>
          <a:p>
            <a:pPr algn="ctr"/>
            <a:r>
              <a:rPr sz="1100" b="1">
                <a:solidFill>
                  <a:srgbClr val="ECECE6"/>
                </a:solidFill>
                <a:latin typeface="PingFang SC"/>
              </a:rPr>
              <a:t>设计记忆</a:t>
            </a:r>
          </a:p>
          <a:p>
            <a:pPr algn="ctr"/>
            <a:r>
              <a:rPr sz="1000" b="0">
                <a:solidFill>
                  <a:srgbClr val="A9A89F"/>
                </a:solidFill>
                <a:latin typeface="PingFang SC"/>
              </a:rPr>
              <a:t>经验沉淀 / 召回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34747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F6E67"/>
                </a:solidFill>
                <a:latin typeface="Menlo"/>
              </a:rPr>
              <a:t>◄── 诊断 + 召回的经验 + 用户插话，进入下一轮的规划提示 ──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023360"/>
            <a:ext cx="10972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• </a:t>
            </a:r>
            <a:r>
              <a:rPr sz="1300" b="1">
                <a:solidFill>
                  <a:srgbClr val="ECECE6"/>
                </a:solidFill>
                <a:latin typeface="PingFang SC"/>
              </a:rPr>
              <a:t>候选筛选：</a:t>
            </a:r>
            <a:r>
              <a:rPr sz="1300" b="0">
                <a:solidFill>
                  <a:srgbClr val="A9A89F"/>
                </a:solidFill>
                <a:latin typeface="PingFang SC"/>
              </a:rPr>
              <a:t>规划器一次给 ≤3 个方案，闭式估算排序，只有第一名进 EDA；估算用岭回归按历史实测自动校准（matmul/xc7s50 的 LUT 误差 105% → 31%）。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• </a:t>
            </a:r>
            <a:r>
              <a:rPr sz="1300" b="1">
                <a:solidFill>
                  <a:srgbClr val="ECECE6"/>
                </a:solidFill>
                <a:latin typeface="PingFang SC"/>
              </a:rPr>
              <a:t>锁定字段：</a:t>
            </a:r>
            <a:r>
              <a:rPr sz="1300" b="0">
                <a:solidFill>
                  <a:srgbClr val="A9A89F"/>
                </a:solidFill>
                <a:latin typeface="PingFang SC"/>
              </a:rPr>
              <a:t>data_width / taps / cutoff 是任务定义，规划器不能为了省 LUT 把 INT8 改成 INT4。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• </a:t>
            </a:r>
            <a:r>
              <a:rPr sz="1300" b="1">
                <a:solidFill>
                  <a:srgbClr val="ECECE6"/>
                </a:solidFill>
                <a:latin typeface="PingFang SC"/>
              </a:rPr>
              <a:t>可插话：</a:t>
            </a:r>
            <a:r>
              <a:rPr sz="1300" b="0">
                <a:solidFill>
                  <a:srgbClr val="A9A89F"/>
                </a:solidFill>
                <a:latin typeface="PingFang SC"/>
              </a:rPr>
              <a:t>运行中用户的一句话会以「工程师指令」进入下一轮提示。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• </a:t>
            </a:r>
            <a:r>
              <a:rPr sz="1300" b="1">
                <a:solidFill>
                  <a:srgbClr val="ECECE6"/>
                </a:solidFill>
                <a:latin typeface="PingFang SC"/>
              </a:rPr>
              <a:t>可恢复：</a:t>
            </a:r>
            <a:r>
              <a:rPr sz="1300" b="0">
                <a:solidFill>
                  <a:srgbClr val="A9A89F"/>
                </a:solidFill>
                <a:latin typeface="PingFang SC"/>
              </a:rPr>
              <a:t>SIGTERM 时做完当前轮，重启后从 EDA 缓存 + 规划回复缓存零秒重放；部署不丢任务。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90E2"/>
                </a:solidFill>
                <a:latin typeface="Menlo"/>
              </a:rPr>
              <a:t>04 · 验证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CECE6"/>
                </a:solidFill>
                <a:latin typeface="PingFang SC"/>
              </a:rPr>
              <a:t>五级仿真阶梯：时序仿真失败也是一种「违反约束」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▣ silicon-agent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10972800" cy="658368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A90E2"/>
                </a:solidFill>
                <a:latin typeface="Menlo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4708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行为级仿真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0195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9A89F"/>
                </a:solidFill>
                <a:latin typeface="PingFang SC"/>
              </a:rPr>
              <a:t>RTL 逻辑 vs Python 黄金模型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0195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F6E67"/>
                </a:solidFill>
                <a:latin typeface="Menlo"/>
              </a:rPr>
              <a:t>cocotb + iverilog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1901952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ECP5 · XC7S50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32304"/>
            <a:ext cx="10972800" cy="658368"/>
          </a:xfrm>
          <a:prstGeom prst="roundRect">
            <a:avLst>
              <a:gd name="adj" fmla="val 6000"/>
            </a:avLst>
          </a:prstGeom>
          <a:solidFill>
            <a:srgbClr val="0E0E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9689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A90E2"/>
                </a:solidFill>
                <a:latin typeface="Menl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54203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综合后功能仿真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59689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9A89F"/>
                </a:solidFill>
                <a:latin typeface="PingFang SC"/>
              </a:rPr>
              <a:t>综合网表，无延迟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596896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F6E67"/>
                </a:solidFill>
                <a:latin typeface="Menlo"/>
              </a:rPr>
              <a:t>iverilog(ECP5 网表) / xsim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2596896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ECP5 · XC7S50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27248"/>
            <a:ext cx="10972800" cy="658368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91840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A90E2"/>
                </a:solidFill>
                <a:latin typeface="Menl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236976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综合后时序仿真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29184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9A89F"/>
                </a:solidFill>
                <a:latin typeface="PingFang SC"/>
              </a:rPr>
              <a:t>综合网表 + 估算 SDF 延迟，目标周期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9184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F6E67"/>
                </a:solidFill>
                <a:latin typeface="Menlo"/>
              </a:rPr>
              <a:t>xsim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3291840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XC7S50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22192"/>
            <a:ext cx="10972800" cy="658368"/>
          </a:xfrm>
          <a:prstGeom prst="roundRect">
            <a:avLst>
              <a:gd name="adj" fmla="val 6000"/>
            </a:avLst>
          </a:prstGeom>
          <a:solidFill>
            <a:srgbClr val="0E0E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8678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A90E2"/>
                </a:solidFill>
                <a:latin typeface="Menlo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93192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实现后功能仿真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3986784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9A89F"/>
                </a:solidFill>
                <a:latin typeface="PingFang SC"/>
              </a:rPr>
              <a:t>布线后网表，无延迟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986784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F6E67"/>
                </a:solidFill>
                <a:latin typeface="Menlo"/>
              </a:rPr>
              <a:t>xsim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3986784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XC7S50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517136"/>
            <a:ext cx="10972800" cy="658368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4A90E2"/>
                </a:solidFill>
                <a:latin typeface="Menlo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626864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实现后时序仿真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468172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A9A89F"/>
                </a:solidFill>
                <a:latin typeface="PingFang SC"/>
              </a:rPr>
              <a:t>布线后网表 + 真实 SDF 延迟，目标周期 — 签核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681728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F6E67"/>
                </a:solidFill>
                <a:latin typeface="Menlo"/>
              </a:rPr>
              <a:t>xsim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468172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XC7S50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3492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9A89F"/>
                </a:solidFill>
                <a:latin typeface="PingFang SC"/>
              </a:rPr>
              <a:t>真实案例：8×8 无流水 INT8 阵列 @ 300 MHz 目标——行为级、综合后/实现后功能仿真全部通过，但 </a:t>
            </a:r>
            <a:r>
              <a:rPr sz="1250" b="1">
                <a:solidFill>
                  <a:srgbClr val="E05252"/>
                </a:solidFill>
                <a:latin typeface="PingFang SC"/>
              </a:rPr>
              <a:t>两级时序仿真失败</a:t>
            </a:r>
            <a:r>
              <a:rPr sz="1250" b="0">
                <a:solidFill>
                  <a:srgbClr val="A9A89F"/>
                </a:solidFill>
                <a:latin typeface="PingFang SC"/>
              </a:rPr>
              <a:t>；规划器据此加 DSP 寄存器后五级全过。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A9A89F"/>
                </a:solidFill>
                <a:latin typeface="PingFang SC"/>
              </a:rPr>
              <a:t>向量 testbench 复用 cocotb 黄金模型（本版 cocotb 无 xsim VPI）；glbl.GSR 100 ns、负沿驱动 3/4 周期采样、Vivado 2025.2 网表注释多行 os-release 等坑都已踩平。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90E2"/>
                </a:solidFill>
                <a:latin typeface="Menlo"/>
              </a:rPr>
              <a:t>05 · 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CECE6"/>
                </a:solidFill>
                <a:latin typeface="PingFang SC"/>
              </a:rPr>
              <a:t>真实结果：20+ 个任务 · 5 种器件 · 7 类设计，全部由真实 EDA 签核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▣ silicon-agent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F6E67"/>
                </a:solidFill>
                <a:latin typeface="Menlo"/>
              </a:rPr>
              <a:t>任务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600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F6E67"/>
                </a:solidFill>
                <a:latin typeface="Menlo"/>
              </a:rPr>
              <a:t>器件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00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F6E67"/>
                </a:solidFill>
                <a:latin typeface="Menlo"/>
              </a:rPr>
              <a:t>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00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F6E67"/>
                </a:solidFill>
                <a:latin typeface="Menlo"/>
              </a:rPr>
              <a:t>轮数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6002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F6E67"/>
                </a:solidFill>
                <a:latin typeface="Menlo"/>
              </a:rPr>
              <a:t>最终设计（真实 P&amp;R）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47088"/>
            <a:ext cx="11155680" cy="283464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9280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PingFang SC"/>
              </a:rPr>
              <a:t>INT8 matmul · 五级仿真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91109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XC7S50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91109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≥300 MHz · ≤32 DSP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8928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Menl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89280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4C759"/>
                </a:solidFill>
                <a:latin typeface="PingFang SC"/>
              </a:rPr>
              <a:t>✓ </a:t>
            </a:r>
            <a:r>
              <a:rPr sz="1000" b="0">
                <a:solidFill>
                  <a:srgbClr val="ECECE6"/>
                </a:solidFill>
                <a:latin typeface="PingFang SC"/>
              </a:rPr>
              <a:t>2×16 · 315–319.5 MHz · 32 DSP · 五级全过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144268"/>
            <a:ext cx="11155680" cy="283464"/>
          </a:xfrm>
          <a:prstGeom prst="roundRect">
            <a:avLst>
              <a:gd name="adj" fmla="val 6000"/>
            </a:avLst>
          </a:prstGeom>
          <a:solidFill>
            <a:srgbClr val="0E0E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18998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PingFang SC"/>
              </a:rPr>
              <a:t>32 阶 FIR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2082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XC7S50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20827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≥250 MHz · ≤8 DSP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1899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Menlo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18998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4C759"/>
                </a:solidFill>
                <a:latin typeface="PingFang SC"/>
              </a:rPr>
              <a:t>✓ </a:t>
            </a:r>
            <a:r>
              <a:rPr sz="1000" b="0">
                <a:solidFill>
                  <a:srgbClr val="ECECE6"/>
                </a:solidFill>
                <a:latin typeface="PingFang SC"/>
              </a:rPr>
              <a:t>非对称 fold=8 · 259.1 MHz · 8 DSP · 324 LUT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441448"/>
            <a:ext cx="11155680" cy="283464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248716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PingFang SC"/>
              </a:rPr>
              <a:t>INT8 matmul（并行候选）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50545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Gowin GW1NR-9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250545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≥130 MHz · ≤16 DSP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48716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Menlo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248716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4C759"/>
                </a:solidFill>
                <a:latin typeface="PingFang SC"/>
              </a:rPr>
              <a:t>✓ </a:t>
            </a:r>
            <a:r>
              <a:rPr sz="1000" b="0">
                <a:solidFill>
                  <a:srgbClr val="ECECE6"/>
                </a:solidFill>
                <a:latin typeface="PingFang SC"/>
              </a:rPr>
              <a:t>2×8 · 205.3 MHz · 16 MULT · 975 LUT（第 2 轮 3 个候选并行）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738628"/>
            <a:ext cx="11155680" cy="283464"/>
          </a:xfrm>
          <a:prstGeom prst="roundRect">
            <a:avLst>
              <a:gd name="adj" fmla="val 6000"/>
            </a:avLst>
          </a:prstGeom>
          <a:solidFill>
            <a:srgbClr val="0E0E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278434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PingFang SC"/>
              </a:rPr>
              <a:t>INT8 matmul · 72 DSP 用满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91840" y="280263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ECP5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280263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≥150 MHz · ≤72 DSP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78434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Menlo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278434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4C759"/>
                </a:solidFill>
                <a:latin typeface="PingFang SC"/>
              </a:rPr>
              <a:t>✓ </a:t>
            </a:r>
            <a:r>
              <a:rPr sz="1000" b="0">
                <a:solidFill>
                  <a:srgbClr val="ECECE6"/>
                </a:solidFill>
                <a:latin typeface="PingFang SC"/>
              </a:rPr>
              <a:t>3×24 · 167.6 MHz · 72 DSP · 72 MAC/cyc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3035808"/>
            <a:ext cx="11155680" cy="283464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308152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PingFang SC"/>
              </a:rPr>
              <a:t>16 位 sin/cos CORDIC · 0 DSP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309981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ECP5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09981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≥200 MHz · 省 LUT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30815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Menlo"/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308152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4C759"/>
                </a:solidFill>
                <a:latin typeface="PingFang SC"/>
              </a:rPr>
              <a:t>✓ </a:t>
            </a:r>
            <a:r>
              <a:rPr sz="1000" b="0">
                <a:solidFill>
                  <a:srgbClr val="ECECE6"/>
                </a:solidFill>
                <a:latin typeface="PingFang SC"/>
              </a:rPr>
              <a:t>4 级流水 · 211.8 MHz · 594 LUT · 0 DSP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3332988"/>
            <a:ext cx="11155680" cy="283464"/>
          </a:xfrm>
          <a:prstGeom prst="roundRect">
            <a:avLst>
              <a:gd name="adj" fmla="val 6000"/>
            </a:avLst>
          </a:prstGeom>
          <a:solidFill>
            <a:srgbClr val="0E0E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37870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PingFang SC"/>
              </a:rPr>
              <a:t>FIR → CORDIC 数据通路（graph）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339699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ECP5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46320" y="339699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≥120 MHz · ≤10 DSP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33787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Menlo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337870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4C759"/>
                </a:solidFill>
                <a:latin typeface="PingFang SC"/>
              </a:rPr>
              <a:t>✓ </a:t>
            </a:r>
            <a:r>
              <a:rPr sz="1000" b="0">
                <a:solidFill>
                  <a:srgbClr val="ECECE6"/>
                </a:solidFill>
                <a:latin typeface="PingFang SC"/>
              </a:rPr>
              <a:t>218.4 MHz · 1209 LUT · 3 DSP · 1 样本/周期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3630168"/>
            <a:ext cx="11155680" cy="283464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" y="367588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PingFang SC"/>
              </a:rPr>
              <a:t>16 阶 FIR · 运行时系数端口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91840" y="36941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GateMate CCGM1A1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46320" y="369417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≥60 MHz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0" y="36758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Menlo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367588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4C759"/>
                </a:solidFill>
                <a:latin typeface="PingFang SC"/>
              </a:rPr>
              <a:t>✓ </a:t>
            </a:r>
            <a:r>
              <a:rPr sz="1000" b="0">
                <a:solidFill>
                  <a:srgbClr val="ECECE6"/>
                </a:solidFill>
                <a:latin typeface="PingFang SC"/>
              </a:rPr>
              <a:t>对称 fold=2 · 60.3 MHz · 4 CC_MULT · 1028 LUT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8640" y="3927348"/>
            <a:ext cx="11155680" cy="283464"/>
          </a:xfrm>
          <a:prstGeom prst="roundRect">
            <a:avLst>
              <a:gd name="adj" fmla="val 6000"/>
            </a:avLst>
          </a:prstGeom>
          <a:solidFill>
            <a:srgbClr val="0E0E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397306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PingFang SC"/>
              </a:rPr>
              <a:t>3×3 卷积（AGH 智能体全程驱动）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91840" y="399135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Gowin GW1NR-9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46320" y="399135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≥100 MHz · 省 LUT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0" y="397306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Menlo"/>
              </a:rPr>
              <a:t>6+5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0" y="397306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4C759"/>
                </a:solidFill>
                <a:latin typeface="PingFang SC"/>
              </a:rPr>
              <a:t>✓ </a:t>
            </a:r>
            <a:r>
              <a:rPr sz="1000" b="0">
                <a:solidFill>
                  <a:srgbClr val="ECECE6"/>
                </a:solidFill>
                <a:latin typeface="PingFang SC"/>
              </a:rPr>
              <a:t>286 LUT/1 px·cyc 与 236 LUT/⅓ px·cyc 两点前沿 · 形式检查通过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4224528"/>
            <a:ext cx="11155680" cy="283464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427024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PingFang SC"/>
              </a:rPr>
              <a:t>256 点 16 位 FFT · 自然序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91840" y="428853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Gowin GW1NR-9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46320" y="428853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≥100 MHz · ≤20 MULT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0" y="427024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Menlo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01000" y="427024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4C759"/>
                </a:solidFill>
                <a:latin typeface="PingFang SC"/>
              </a:rPr>
              <a:t>✓ </a:t>
            </a:r>
            <a:r>
              <a:rPr sz="1000" b="0">
                <a:solidFill>
                  <a:srgbClr val="ECECE6"/>
                </a:solidFill>
                <a:latin typeface="PingFang SC"/>
              </a:rPr>
              <a:t>cmul=three · 153.9 MHz · 18/20 MULT · 3250 LUT · 8 BRAM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4521708"/>
            <a:ext cx="11155680" cy="283464"/>
          </a:xfrm>
          <a:prstGeom prst="roundRect">
            <a:avLst>
              <a:gd name="adj" fmla="val 6000"/>
            </a:avLst>
          </a:prstGeom>
          <a:solidFill>
            <a:srgbClr val="0E0E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456742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PingFang SC"/>
              </a:rPr>
              <a:t>5×5 卷积 · 640 宽 · 五级仿真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91840" y="458571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XC7S50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46320" y="458571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≥200 MHz · ≤30 DSP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0" y="45674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Menlo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01000" y="456742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4C759"/>
                </a:solidFill>
                <a:latin typeface="PingFang SC"/>
              </a:rPr>
              <a:t>✓ </a:t>
            </a:r>
            <a:r>
              <a:rPr sz="1000" b="0">
                <a:solidFill>
                  <a:srgbClr val="ECECE6"/>
                </a:solidFill>
                <a:latin typeface="PingFang SC"/>
              </a:rPr>
              <a:t>in_pipe_out · 219.8 MHz · 25 DSP · 469 LUT · 五级全过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48640" y="4818888"/>
            <a:ext cx="11155680" cy="283464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" y="486460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PingFang SC"/>
              </a:rPr>
              <a:t>3×3 高斯卷积（聊天）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91840" y="488289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iCE40 UP5K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20" y="488289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≥60 MHz · ≤1500 LUT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15200" y="486460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Menlo"/>
              </a:rPr>
              <a:t>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001000" y="486460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4C759"/>
                </a:solidFill>
                <a:latin typeface="PingFang SC"/>
              </a:rPr>
              <a:t>✓ </a:t>
            </a:r>
            <a:r>
              <a:rPr sz="1000" b="0">
                <a:solidFill>
                  <a:srgbClr val="ECECE6"/>
                </a:solidFill>
                <a:latin typeface="PingFang SC"/>
              </a:rPr>
              <a:t>全并行 · 70.6 MHz · 273 LUT · 0 DSP · 2 BRAM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48640" y="5116068"/>
            <a:ext cx="11155680" cy="283464"/>
          </a:xfrm>
          <a:prstGeom prst="roundRect">
            <a:avLst>
              <a:gd name="adj" fmla="val 6000"/>
            </a:avLst>
          </a:prstGeom>
          <a:solidFill>
            <a:srgbClr val="0E0E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40080" y="516178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PingFang SC"/>
              </a:rPr>
              <a:t>5×5 卷积 · 640 宽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91840" y="518007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ECP5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46320" y="518007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≥100 MHz · 省 LUT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315200" y="51617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Menlo"/>
              </a:rPr>
              <a:t>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001000" y="516178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4C759"/>
                </a:solidFill>
                <a:latin typeface="PingFang SC"/>
              </a:rPr>
              <a:t>✓ </a:t>
            </a:r>
            <a:r>
              <a:rPr sz="1000" b="0">
                <a:solidFill>
                  <a:srgbClr val="ECECE6"/>
                </a:solidFill>
                <a:latin typeface="PingFang SC"/>
              </a:rPr>
              <a:t>125.7 MHz · 630 LUT · 9 DSP · 4 BRAM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48640" y="5413248"/>
            <a:ext cx="11155680" cy="283464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0080" y="545896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PingFang SC"/>
              </a:rPr>
              <a:t>16 阶 FIR（聊天）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91840" y="547725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Gowin GW1NR-9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46320" y="547725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≥100 MHz · ≤4 DSP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315200" y="545896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Menlo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001000" y="545896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4C759"/>
                </a:solidFill>
                <a:latin typeface="PingFang SC"/>
              </a:rPr>
              <a:t>✓ </a:t>
            </a:r>
            <a:r>
              <a:rPr sz="1000" b="0">
                <a:solidFill>
                  <a:srgbClr val="ECECE6"/>
                </a:solidFill>
                <a:latin typeface="PingFang SC"/>
              </a:rPr>
              <a:t>fold=2 · 103.5 MHz · 4 MULT18X18 · 733 LUT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48640" y="5710428"/>
            <a:ext cx="11155680" cy="283464"/>
          </a:xfrm>
          <a:prstGeom prst="roundRect">
            <a:avLst>
              <a:gd name="adj" fmla="val 6000"/>
            </a:avLst>
          </a:prstGeom>
          <a:solidFill>
            <a:srgbClr val="0E0E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40080" y="575614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PingFang SC"/>
              </a:rPr>
              <a:t>两级 FIR 级联 8→32 阶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91840" y="577443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ECP5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846320" y="577443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≥120 MHz · ≤12 DSP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315200" y="575614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Menlo"/>
              </a:rPr>
              <a:t>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01000" y="575614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4C759"/>
                </a:solidFill>
                <a:latin typeface="PingFang SC"/>
              </a:rPr>
              <a:t>✓ </a:t>
            </a:r>
            <a:r>
              <a:rPr sz="1000" b="0">
                <a:solidFill>
                  <a:srgbClr val="ECECE6"/>
                </a:solidFill>
                <a:latin typeface="PingFang SC"/>
              </a:rPr>
              <a:t>两级对称 fold=4 · 127.4 MHz · 5 DSP · 989 LUT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48640" y="6007608"/>
            <a:ext cx="11155680" cy="283464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080" y="6053328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PingFang SC"/>
              </a:rPr>
              <a:t>INT8 matmul（聊天 + 追问 fork）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291840" y="6071616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ECP5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846320" y="6071616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A9A89F"/>
                </a:solidFill>
                <a:latin typeface="Menlo"/>
              </a:rPr>
              <a:t>≥160 MHz · ≤32 DSP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315200" y="60533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CECE6"/>
                </a:solidFill>
                <a:latin typeface="Menlo"/>
              </a:rPr>
              <a:t>2+8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01000" y="6053328"/>
            <a:ext cx="3840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34C759"/>
                </a:solidFill>
                <a:latin typeface="PingFang SC"/>
              </a:rPr>
              <a:t>✓ </a:t>
            </a:r>
            <a:r>
              <a:rPr sz="1000" b="0">
                <a:solidFill>
                  <a:srgbClr val="ECECE6"/>
                </a:solidFill>
                <a:latin typeface="PingFang SC"/>
              </a:rPr>
              <a:t>1×1 216.8 → 1×32 · 214.2 MHz · 32 MAC/cyc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0080" y="614476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F6E67"/>
                </a:solidFill>
                <a:latin typeface="PingFang SC"/>
              </a:rPr>
              <a:t>每轮成本：ECP5 / iCE40 / Gowin 15–60 秒、GateMate 2–4 分钟（3 个布线种子取中位数），XC7S50 1.5–4 分钟（含五级仿真）。规划器 DeepSeek，每轮一次调用，候选可并行评估。回归基准集 14 例，每晚 03:17 自动跑并与上一次比对。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90E2"/>
                </a:solidFill>
                <a:latin typeface="Menlo"/>
              </a:rPr>
              <a:t>06 · 轨迹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CECE6"/>
                </a:solidFill>
                <a:latin typeface="PingFang SC"/>
              </a:rPr>
              <a:t>两条真实轨迹：规划器是怎么「想」的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▣ silicon-agent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00200"/>
          <a:ext cx="55778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663440"/>
            <a:ext cx="5486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1 </a:t>
            </a:r>
            <a:r>
              <a:rPr sz="1150" b="0">
                <a:solidFill>
                  <a:srgbClr val="A9A89F"/>
                </a:solidFill>
                <a:latin typeface="PingFang SC"/>
              </a:rPr>
              <a:t>转置形式 1 样本/周期：495 MHz 但 45 DSP（Vivado 把整条 FIR 吸进 DSP 级联）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2–3 </a:t>
            </a:r>
            <a:r>
              <a:rPr sz="1150" b="0">
                <a:solidFill>
                  <a:srgbClr val="A9A89F"/>
                </a:solidFill>
                <a:latin typeface="PingFang SC"/>
              </a:rPr>
              <a:t>对称 + fold=2：DSP 降到 8，但乘法器操作数选择器成了墙（150–163 MHz）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4–6 </a:t>
            </a:r>
            <a:r>
              <a:rPr sz="1150" b="0">
                <a:solidFill>
                  <a:srgbClr val="A9A89F"/>
                </a:solidFill>
                <a:latin typeface="PingFang SC"/>
              </a:rPr>
              <a:t>fold=4 / 8、改 DSP 寄存器模式：236 / 225 / 152 MHz，都差一点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7 </a:t>
            </a:r>
            <a:r>
              <a:rPr sz="1150" b="0">
                <a:solidFill>
                  <a:srgbClr val="A9A89F"/>
                </a:solidFill>
                <a:latin typeface="PingFang SC"/>
              </a:rPr>
              <a:t>放弃对称共享、fold=8：</a:t>
            </a:r>
            <a:r>
              <a:rPr sz="1150" b="1">
                <a:solidFill>
                  <a:srgbClr val="34C759"/>
                </a:solidFill>
                <a:latin typeface="PingFang SC"/>
              </a:rPr>
              <a:t>259.1 MHz · 8 DSP · 324 LUT ✓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309360" y="1600200"/>
          <a:ext cx="539496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4663440"/>
            <a:ext cx="5303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1 </a:t>
            </a:r>
            <a:r>
              <a:rPr sz="1150" b="0">
                <a:solidFill>
                  <a:srgbClr val="A9A89F"/>
                </a:solidFill>
                <a:latin typeface="PingFang SC"/>
              </a:rPr>
              <a:t>8×8 无流水：189.8 MHz，64 DSP，</a:t>
            </a:r>
            <a:r>
              <a:rPr sz="1150" b="0">
                <a:solidFill>
                  <a:srgbClr val="E05252"/>
                </a:solidFill>
                <a:latin typeface="PingFang SC"/>
              </a:rPr>
              <a:t>两级时序仿真失败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2 </a:t>
            </a:r>
            <a:r>
              <a:rPr sz="1150" b="0">
                <a:solidFill>
                  <a:srgbClr val="A9A89F"/>
                </a:solidFill>
                <a:latin typeface="PingFang SC"/>
              </a:rPr>
              <a:t>4×8 · DSP 寄存器 in_pipe_out · 累加器移出 DSP（acc_in_dsp=false）：296.3 MHz，五级全过，差 4 MHz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3 </a:t>
            </a:r>
            <a:r>
              <a:rPr sz="1150" b="0">
                <a:solidFill>
                  <a:srgbClr val="A9A89F"/>
                </a:solidFill>
                <a:latin typeface="PingFang SC"/>
              </a:rPr>
              <a:t>2×16 同配置：</a:t>
            </a:r>
            <a:r>
              <a:rPr sz="1150" b="1">
                <a:solidFill>
                  <a:srgbClr val="34C759"/>
                </a:solidFill>
                <a:latin typeface="PingFang SC"/>
              </a:rPr>
              <a:t>315.0 MHz · 32 DSP · 1994 LUT ✓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6F6E67"/>
                </a:solidFill>
                <a:latin typeface="PingFang SC"/>
              </a:rPr>
              <a:t>acc_in_dsp 这个旋钮来自一次实测扫描：DSP48E1 的 M→P 级 2.31 ns 是 277 MHz 的天花板。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90E2"/>
                </a:solidFill>
                <a:latin typeface="Menlo"/>
              </a:rPr>
              <a:t>07 · 学习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CECE6"/>
                </a:solidFill>
                <a:latin typeface="PingFang SC"/>
              </a:rPr>
              <a:t>设计记忆：每一步都沉淀成可召回、可验证的经验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▣ silicon-agent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10512"/>
            <a:ext cx="508406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一条「经验」长什么样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508406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ECECE6"/>
                </a:solidFill>
                <a:latin typeface="PingFang SC"/>
              </a:rPr>
              <a:t>情境：</a:t>
            </a:r>
            <a:r>
              <a:rPr sz="1250" b="0">
                <a:solidFill>
                  <a:srgbClr val="A9A89F"/>
                </a:solidFill>
                <a:latin typeface="PingFang SC"/>
              </a:rPr>
              <a:t>违反类型 + 关键路径主导级 + 结构标签</a:t>
            </a:r>
          </a:p>
          <a:p>
            <a:pPr algn="l">
              <a:lnSpc>
                <a:spcPct val="115000"/>
              </a:lnSpc>
            </a:pPr>
            <a:r>
              <a:rPr sz="1250" b="1">
                <a:solidFill>
                  <a:srgbClr val="ECECE6"/>
                </a:solidFill>
                <a:latin typeface="PingFang SC"/>
              </a:rPr>
              <a:t>动作：</a:t>
            </a:r>
            <a:r>
              <a:rPr sz="1250" b="0">
                <a:solidFill>
                  <a:srgbClr val="A9A89F"/>
                </a:solidFill>
                <a:latin typeface="PingFang SC"/>
              </a:rPr>
              <a:t>IR 的差分（改了哪些旋钮）</a:t>
            </a:r>
          </a:p>
          <a:p>
            <a:pPr algn="l">
              <a:lnSpc>
                <a:spcPct val="115000"/>
              </a:lnSpc>
            </a:pPr>
            <a:r>
              <a:rPr sz="1250" b="1">
                <a:solidFill>
                  <a:srgbClr val="ECECE6"/>
                </a:solidFill>
                <a:latin typeface="PingFang SC"/>
              </a:rPr>
              <a:t>效果：</a:t>
            </a:r>
            <a:r>
              <a:rPr sz="1250" b="0">
                <a:solidFill>
                  <a:srgbClr val="A9A89F"/>
                </a:solidFill>
                <a:latin typeface="PingFang SC"/>
              </a:rPr>
              <a:t>实测 ΔFmax / ΔLUT / ΔDSP</a:t>
            </a:r>
          </a:p>
          <a:p>
            <a:pPr algn="l">
              <a:lnSpc>
                <a:spcPct val="115000"/>
              </a:lnSpc>
            </a:pPr>
            <a:r>
              <a:rPr sz="1250" b="1">
                <a:solidFill>
                  <a:srgbClr val="ECECE6"/>
                </a:solidFill>
                <a:latin typeface="PingFang SC"/>
              </a:rPr>
              <a:t>一句话：</a:t>
            </a:r>
            <a:r>
              <a:rPr sz="1250" b="0">
                <a:solidFill>
                  <a:srgbClr val="A9A89F"/>
                </a:solidFill>
                <a:latin typeface="PingFang SC"/>
              </a:rPr>
              <a:t>由 LLM 从以上三者蒸馏，例如——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ECECE6"/>
                </a:solidFill>
                <a:latin typeface="PingFang SC"/>
              </a:rPr>
              <a:t>「ECP5 matmul 受 MULT18X18D 直灌 32 位进位链限制在 76.6 MHz 时，dsp_regs=in_pipe_out + pipe_mul=1 + reg_in 把乘法器隔离，Fmax 升到 216.8 MHz。」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303520" cy="237744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810512"/>
            <a:ext cx="490118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闭环，不是日志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212848"/>
            <a:ext cx="4901184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A9A89F"/>
                </a:solidFill>
                <a:latin typeface="PingFang SC"/>
              </a:rPr>
              <a:t>• 每轮规划前按特征重叠召回 top-6，写进提示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A9A89F"/>
                </a:solidFill>
                <a:latin typeface="PingFang SC"/>
              </a:rPr>
              <a:t>• 规划器如果照做了：后一轮的实测自动 </a:t>
            </a:r>
            <a:r>
              <a:rPr sz="1250" b="0">
                <a:solidFill>
                  <a:srgbClr val="34C759"/>
                </a:solidFill>
                <a:latin typeface="PingFang SC"/>
              </a:rPr>
              <a:t>确认</a:t>
            </a:r>
            <a:r>
              <a:rPr sz="1250" b="0">
                <a:solidFill>
                  <a:srgbClr val="A9A89F"/>
                </a:solidFill>
                <a:latin typeface="PingFang SC"/>
              </a:rPr>
              <a:t> 或 </a:t>
            </a:r>
            <a:r>
              <a:rPr sz="1250" b="0">
                <a:solidFill>
                  <a:srgbClr val="E05252"/>
                </a:solidFill>
                <a:latin typeface="PingFang SC"/>
              </a:rPr>
              <a:t>推翻</a:t>
            </a:r>
            <a:r>
              <a:rPr sz="1250" b="0">
                <a:solidFill>
                  <a:srgbClr val="A9A89F"/>
                </a:solidFill>
                <a:latin typeface="PingFang SC"/>
              </a:rPr>
              <a:t> 这条经验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A9A89F"/>
                </a:solidFill>
                <a:latin typeface="PingFang SC"/>
              </a:rPr>
              <a:t>• 评分 = 确认 − 1.5×推翻 + 0.5×人工投票（UI 上 👍👎）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A9A89F"/>
                </a:solidFill>
                <a:latin typeface="PingFang SC"/>
              </a:rPr>
              <a:t>• 现有 39 条经验（matmul/FIR × ECP5/XC7S50），从历史运行回填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40080" y="4206240"/>
          <a:ext cx="512064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309360" y="4297680"/>
            <a:ext cx="5303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A9A89F"/>
                </a:solidFill>
                <a:latin typeface="PingFang SC"/>
              </a:rPr>
              <a:t>有记忆的那次在第 2 轮就引用了经验 id 直接给出可行设计（295.3 MHz / 48 DSP）；无记忆的要到第 3 轮。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6F6E67"/>
                </a:solidFill>
                <a:latin typeface="PingFang SC"/>
              </a:rPr>
              <a:t>估算校准同理：每次 EDA 结果都记录（特征, 估算, 实测），岭回归 + LOO 选 λ，只有打败原始估算时才启用。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90E2"/>
                </a:solidFill>
                <a:latin typeface="Menlo"/>
              </a:rPr>
              <a:t>08 · 产品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CECE6"/>
                </a:solidFill>
                <a:latin typeface="PingFang SC"/>
              </a:rPr>
              <a:t>产品形态：一个像 Claude 的聊天，细节折叠在卡片里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▣ silicon-agent</a:t>
            </a:r>
          </a:p>
        </p:txBody>
      </p:sp>
      <p:pic>
        <p:nvPicPr>
          <p:cNvPr id="6" name="Picture 5" descr="chat-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6675120" cy="4171950"/>
          </a:xfrm>
          <a:prstGeom prst="rect">
            <a:avLst/>
          </a:prstGeom>
          <a:ln w="9525">
            <a:solidFill>
              <a:srgbClr val="33333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589520" y="1691640"/>
            <a:ext cx="41148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ECECE6"/>
                </a:solidFill>
                <a:latin typeface="PingFang SC"/>
              </a:rPr>
              <a:t>输入只有自然语言。</a:t>
            </a:r>
            <a:r>
              <a:rPr sz="1250" b="0">
                <a:solidFill>
                  <a:srgbClr val="A9A89F"/>
                </a:solidFill>
                <a:latin typeface="PingFang SC"/>
              </a:rPr>
              <a:t> nl.interpret 产出完整规格：设计类型、器件、锁定参数、约束、目标顺序、朴素起点，并说明假设。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ECECE6"/>
                </a:solidFill>
                <a:latin typeface="PingFang SC"/>
              </a:rPr>
              <a:t>追问即迭代。</a:t>
            </a:r>
            <a:r>
              <a:rPr sz="1250" b="0">
                <a:solidFill>
                  <a:srgbClr val="A9A89F"/>
                </a:solidFill>
                <a:latin typeface="PingFang SC"/>
              </a:rPr>
              <a:t> 同一会话里再说一句：改约束 → 从上一次最佳设计 fork；运行中 → 作为工程师指令插话；提问 → 直接回答。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ECECE6"/>
                </a:solidFill>
                <a:latin typeface="PingFang SC"/>
              </a:rPr>
              <a:t>细节按需展开。</a:t>
            </a:r>
            <a:r>
              <a:rPr sz="1250" b="0">
                <a:solidFill>
                  <a:srgbClr val="A9A89F"/>
                </a:solidFill>
                <a:latin typeface="PingFang SC"/>
              </a:rPr>
              <a:t> 卡片默认折叠；展开才看到每轮 IR 差分、五级仿真、关键路径、日志。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ECECE6"/>
                </a:solidFill>
                <a:latin typeface="PingFang SC"/>
              </a:rPr>
              <a:t>工程师视图。</a:t>
            </a:r>
            <a:r>
              <a:rPr sz="1250" b="0">
                <a:solidFill>
                  <a:srgbClr val="A9A89F"/>
                </a:solidFill>
                <a:latin typeface="PingFang SC"/>
              </a:rPr>
              <a:t> 每个会话有独立的 worktable：轨迹图、架构草图、IR 旋钮、比较、fork、RTL。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ECECE6"/>
                </a:solidFill>
                <a:latin typeface="PingFang SC"/>
              </a:rPr>
              <a:t>部署：</a:t>
            </a:r>
            <a:r>
              <a:rPr sz="1250" b="0">
                <a:solidFill>
                  <a:srgbClr val="A9A89F"/>
                </a:solidFill>
                <a:latin typeface="PingFang SC"/>
              </a:rPr>
              <a:t> netcup 上 Vivado 容器里的任务服务器，sluice SSO；笔记本只是瘦客户端（sa ask "…"）。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90E2"/>
                </a:solidFill>
                <a:latin typeface="Menlo"/>
              </a:rPr>
              <a:t>08 · 产品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CECE6"/>
                </a:solidFill>
                <a:latin typeface="PingFang SC"/>
              </a:rPr>
              <a:t>工程师视图：每个会话一张独立的 worktable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▣ silicon-agent</a:t>
            </a:r>
          </a:p>
        </p:txBody>
      </p:sp>
      <p:pic>
        <p:nvPicPr>
          <p:cNvPr id="6" name="Picture 5" descr="worktable-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7863840" cy="4914900"/>
          </a:xfrm>
          <a:prstGeom prst="rect">
            <a:avLst/>
          </a:prstGeom>
          <a:ln w="9525">
            <a:solidFill>
              <a:srgbClr val="33333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778240" y="1691640"/>
            <a:ext cx="301752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ECECE6"/>
                </a:solidFill>
                <a:latin typeface="PingFang SC"/>
              </a:rPr>
              <a:t>一轮一个 turn。</a:t>
            </a:r>
            <a:r>
              <a:rPr sz="1250" b="0">
                <a:solidFill>
                  <a:srgbClr val="A9A89F"/>
                </a:solidFill>
                <a:latin typeface="PingFang SC"/>
              </a:rPr>
              <a:t> 规划器的动作、IR 差分、判定行、仿真阶段；假设 / 召回的经验 / 候选与估算 / 关键路径 / 本轮经验折叠在 details 里。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ECECE6"/>
                </a:solidFill>
                <a:latin typeface="PingFang SC"/>
              </a:rPr>
              <a:t>右侧 inspector。</a:t>
            </a:r>
            <a:r>
              <a:rPr sz="1250" b="0">
                <a:solidFill>
                  <a:srgbClr val="A9A89F"/>
                </a:solidFill>
                <a:latin typeface="PingFang SC"/>
              </a:rPr>
              <a:t> 架构草图、IR 旋钮、关键路径分解条、轨迹图、五级仿真表、RTL、记忆，以及这个设计在这颗芯片上所有历史实测点的 Pareto 前沿（图中 20 个点、10 个非支配）。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ECECE6"/>
                </a:solidFill>
                <a:latin typeface="PingFang SC"/>
              </a:rPr>
              <a:t>动作。</a:t>
            </a:r>
            <a:r>
              <a:rPr sz="1250" b="0">
                <a:solidFill>
                  <a:srgbClr val="A9A89F"/>
                </a:solidFill>
                <a:latin typeface="PingFang SC"/>
              </a:rPr>
              <a:t> 从任意一轮 fork 并改约束、同会话两次运行并排比较、重跑、删除——都留在这个会话里，并在聊天里出现为一个 turn。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50" b="1">
                <a:solidFill>
                  <a:srgbClr val="ECECE6"/>
                </a:solidFill>
                <a:latin typeface="PingFang SC"/>
              </a:rPr>
              <a:t>与聊天互通。</a:t>
            </a:r>
            <a:r>
              <a:rPr sz="1250" b="0">
                <a:solidFill>
                  <a:srgbClr val="A9A89F"/>
                </a:solidFill>
                <a:latin typeface="PingFang SC"/>
              </a:rPr>
              <a:t> 聊天负责「要什么」，worktable 负责「为什么」。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90E2"/>
                </a:solidFill>
                <a:latin typeface="Menlo"/>
              </a:rPr>
              <a:t>09 · 平台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CECE6"/>
                </a:solidFill>
                <a:latin typeface="PingFang SC"/>
              </a:rPr>
              <a:t>平台：生成器 × 器件是一张可以继续长的表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▣ silicon-agent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554480"/>
            <a:ext cx="1645920" cy="64008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609344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CECE6"/>
                </a:solidFill>
                <a:latin typeface="PingFang SC"/>
              </a:rPr>
              <a:t>ECP5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865376"/>
            <a:ext cx="1508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F6E67"/>
                </a:solidFill>
                <a:latin typeface="Menlo"/>
              </a:rPr>
              <a:t>LFE5U-45F · nextpnr · 15–60 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554480"/>
            <a:ext cx="1645920" cy="64008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609344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CECE6"/>
                </a:solidFill>
                <a:latin typeface="PingFang SC"/>
              </a:rPr>
              <a:t>Spartan-7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865376"/>
            <a:ext cx="1508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F6E67"/>
                </a:solidFill>
                <a:latin typeface="Menlo"/>
              </a:rPr>
              <a:t>XC7S50 · Vivado · 五级仿真 · 1.5–4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554480"/>
            <a:ext cx="1645920" cy="64008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09344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CECE6"/>
                </a:solidFill>
                <a:latin typeface="PingFang SC"/>
              </a:rPr>
              <a:t>iCE40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865376"/>
            <a:ext cx="1508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F6E67"/>
                </a:solidFill>
                <a:latin typeface="Menlo"/>
              </a:rPr>
              <a:t>UP5K · nextpnr-ice40 · 10–40 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554480"/>
            <a:ext cx="1645920" cy="64008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09344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CECE6"/>
                </a:solidFill>
                <a:latin typeface="PingFang SC"/>
              </a:rPr>
              <a:t>Gowin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65376"/>
            <a:ext cx="1508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F6E67"/>
                </a:solidFill>
                <a:latin typeface="Menlo"/>
              </a:rPr>
              <a:t>GW1NR-9 · himbächel · 15–60 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1554480"/>
            <a:ext cx="1645920" cy="64008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1609344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CECE6"/>
                </a:solidFill>
                <a:latin typeface="PingFang SC"/>
              </a:rPr>
              <a:t>GateMate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1865376"/>
            <a:ext cx="15087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6F6E67"/>
                </a:solidFill>
                <a:latin typeface="Menlo"/>
              </a:rPr>
              <a:t>CCGM1A1 · himbächel · 2–4 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304288"/>
            <a:ext cx="2286000" cy="530352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35000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CECE6"/>
                </a:solidFill>
                <a:latin typeface="Menlo"/>
              </a:rPr>
              <a:t>matmul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596896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F6E67"/>
                </a:solidFill>
                <a:latin typeface="PingFang SC"/>
              </a:rPr>
              <a:t>output-stationary systolic INT 阵列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17520" y="2304288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2441448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4C759"/>
                </a:solidFill>
                <a:latin typeface="PingFang SC"/>
              </a:rPr>
              <a:t>● 真实任务达标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2304288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2441448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4C759"/>
                </a:solidFill>
                <a:latin typeface="PingFang SC"/>
              </a:rPr>
              <a:t>● 真实任务达标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2304288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441448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4C759"/>
                </a:solidFill>
                <a:latin typeface="PingFang SC"/>
              </a:rPr>
              <a:t>● 真实任务达标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2304288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2441448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4C759"/>
                </a:solidFill>
                <a:latin typeface="PingFang SC"/>
              </a:rPr>
              <a:t>● 真实任务达标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66960" y="2304288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0E0E0D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0" y="2441448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6E67"/>
                </a:solidFill>
                <a:latin typeface="PingFang SC"/>
              </a:rPr>
              <a:t>○ 未跑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2907792"/>
            <a:ext cx="2286000" cy="530352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2953512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CECE6"/>
                </a:solidFill>
                <a:latin typeface="Menlo"/>
              </a:rPr>
              <a:t>fir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200400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F6E67"/>
                </a:solidFill>
                <a:latin typeface="PingFang SC"/>
              </a:rPr>
              <a:t>定系数 / 运行时系数 FIR：转置 / 折叠 / 对称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17520" y="2907792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0" y="3044952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4C759"/>
                </a:solidFill>
                <a:latin typeface="PingFang SC"/>
              </a:rPr>
              <a:t>● 真实任务达标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0" y="2907792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3044952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4C759"/>
                </a:solidFill>
                <a:latin typeface="PingFang SC"/>
              </a:rPr>
              <a:t>● 真实任务达标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2907792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3044952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A90E2"/>
                </a:solidFill>
                <a:latin typeface="PingFang SC"/>
              </a:rPr>
              <a:t>● EDA + 网表仿真通过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2907792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3044952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4C759"/>
                </a:solidFill>
                <a:latin typeface="PingFang SC"/>
              </a:rPr>
              <a:t>● 真实任务达标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66960" y="2907792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0" y="3044952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4C759"/>
                </a:solidFill>
                <a:latin typeface="PingFang SC"/>
              </a:rPr>
              <a:t>● 真实任务达标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0080" y="3511296"/>
            <a:ext cx="2286000" cy="530352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3557016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CECE6"/>
                </a:solidFill>
                <a:latin typeface="Menlo"/>
              </a:rPr>
              <a:t>conv2d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3803904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F6E67"/>
                </a:solidFill>
                <a:latin typeface="PingFang SC"/>
              </a:rPr>
              <a:t>K×K 流式卷积：BRAM 行缓冲 + 加法树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017520" y="3511296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08960" y="3648456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4C759"/>
                </a:solidFill>
                <a:latin typeface="PingFang SC"/>
              </a:rPr>
              <a:t>● 真实任务达标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754880" y="3511296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46320" y="3648456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4C759"/>
                </a:solidFill>
                <a:latin typeface="PingFang SC"/>
              </a:rPr>
              <a:t>● 真实任务达标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92240" y="3511296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0" y="3648456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4C759"/>
                </a:solidFill>
                <a:latin typeface="PingFang SC"/>
              </a:rPr>
              <a:t>● 真实任务达标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29600" y="3511296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3648456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A90E2"/>
                </a:solidFill>
                <a:latin typeface="PingFang SC"/>
              </a:rPr>
              <a:t>● EDA + 网表仿真通过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66960" y="3511296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58400" y="3648456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A90E2"/>
                </a:solidFill>
                <a:latin typeface="PingFang SC"/>
              </a:rPr>
              <a:t>● EDA + 网表仿真通过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0080" y="4114800"/>
            <a:ext cx="2286000" cy="530352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7240" y="416052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CECE6"/>
                </a:solidFill>
                <a:latin typeface="Menlo"/>
              </a:rPr>
              <a:t>cordic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440740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F6E67"/>
                </a:solidFill>
                <a:latin typeface="PingFang SC"/>
              </a:rPr>
              <a:t>旋转 / 向量模式，展开或折叠，位精确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017520" y="4114800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108960" y="4251960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4C759"/>
                </a:solidFill>
                <a:latin typeface="PingFang SC"/>
              </a:rPr>
              <a:t>● 真实任务达标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754880" y="4114800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0E0E0D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46320" y="4251960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6E67"/>
                </a:solidFill>
                <a:latin typeface="PingFang SC"/>
              </a:rPr>
              <a:t>○ 未跑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492240" y="4114800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0" y="4251960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A90E2"/>
                </a:solidFill>
                <a:latin typeface="PingFang SC"/>
              </a:rPr>
              <a:t>● EDA + 网表仿真通过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29600" y="4114800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21040" y="4251960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A90E2"/>
                </a:solidFill>
                <a:latin typeface="PingFang SC"/>
              </a:rPr>
              <a:t>● EDA + 网表仿真通过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966960" y="4114800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58400" y="4251960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A90E2"/>
                </a:solidFill>
                <a:latin typeface="PingFang SC"/>
              </a:rPr>
              <a:t>● EDA + 网表仿真通过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40080" y="4718304"/>
            <a:ext cx="2286000" cy="530352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77240" y="4764024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CECE6"/>
                </a:solidFill>
                <a:latin typeface="Menlo"/>
              </a:rPr>
              <a:t>fft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7240" y="5010912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F6E67"/>
                </a:solidFill>
                <a:latin typeface="PingFang SC"/>
              </a:rPr>
              <a:t>radix-2 SDF，16–4096 点，4/3/0 乘法器复乘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017520" y="4718304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108960" y="4855464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A90E2"/>
                </a:solidFill>
                <a:latin typeface="PingFang SC"/>
              </a:rPr>
              <a:t>● EDA + 网表仿真通过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754880" y="4718304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0E0E0D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46320" y="4855464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6E67"/>
                </a:solidFill>
                <a:latin typeface="PingFang SC"/>
              </a:rPr>
              <a:t>○ 未跑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492240" y="4718304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0E0E0D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83680" y="4855464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6E67"/>
                </a:solidFill>
                <a:latin typeface="PingFang SC"/>
              </a:rPr>
              <a:t>○ 未跑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229600" y="4718304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321040" y="4855464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4C759"/>
                </a:solidFill>
                <a:latin typeface="PingFang SC"/>
              </a:rPr>
              <a:t>● 真实任务达标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966960" y="4718304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0E0E0D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058400" y="4855464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6E67"/>
                </a:solidFill>
                <a:latin typeface="PingFang SC"/>
              </a:rPr>
              <a:t>○ 未跑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40080" y="5321808"/>
            <a:ext cx="2286000" cy="530352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77240" y="536752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CECE6"/>
                </a:solidFill>
                <a:latin typeface="Menlo"/>
              </a:rPr>
              <a:t>graph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7240" y="5614416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F6E67"/>
                </a:solidFill>
                <a:latin typeface="PingFang SC"/>
              </a:rPr>
              <a:t>通用 IR 图：任意 fir/conv/cordic/fft 节点经 FIFO 级联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017520" y="5321808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108960" y="5458968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34C759"/>
                </a:solidFill>
                <a:latin typeface="PingFang SC"/>
              </a:rPr>
              <a:t>● 真实任务达标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754880" y="5321808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0E0E0D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846320" y="5458968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6E67"/>
                </a:solidFill>
                <a:latin typeface="PingFang SC"/>
              </a:rPr>
              <a:t>○ 未跑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492240" y="5321808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0E0E0D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583680" y="5458968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6E67"/>
                </a:solidFill>
                <a:latin typeface="PingFang SC"/>
              </a:rPr>
              <a:t>○ 未跑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229600" y="5321808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262624"/>
          </a:solidFill>
          <a:ln w="9525">
            <a:solidFill>
              <a:srgbClr val="4A9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321040" y="5458968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4A90E2"/>
                </a:solidFill>
                <a:latin typeface="PingFang SC"/>
              </a:rPr>
              <a:t>● EDA + 网表仿真通过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9966960" y="5321808"/>
            <a:ext cx="1645920" cy="530352"/>
          </a:xfrm>
          <a:prstGeom prst="roundRect">
            <a:avLst>
              <a:gd name="adj" fmla="val 6000"/>
            </a:avLst>
          </a:prstGeom>
          <a:solidFill>
            <a:srgbClr val="0E0E0D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058400" y="5458968"/>
            <a:ext cx="1508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F6E67"/>
                </a:solidFill>
                <a:latin typeface="PingFang SC"/>
              </a:rPr>
              <a:t>○ 未跑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0080" y="58978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A9A89F"/>
                </a:solidFill>
                <a:latin typeface="PingFang SC"/>
              </a:rPr>
              <a:t>加一种器件 = backends/ 下一个文件（器件事实 + 跑工具 + 解析报告）；加一类设计 = 一个 IR + 生成器 + 黄金模型 + 估算 + 规划知识。提示词、估算、表单、自然语言解释器都从注册表取。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A9A89F"/>
                </a:solidFill>
                <a:latin typeface="PingFang SC"/>
              </a:rPr>
              <a:t>黑盒原语自己建模：</a:t>
            </a:r>
            <a:r>
              <a:rPr sz="1100" b="0">
                <a:solidFill>
                  <a:srgbClr val="A9A89F"/>
                </a:solidFill>
                <a:latin typeface="PingFang SC"/>
              </a:rPr>
              <a:t>DP16KD / Gowin BRAM / MULT 的仿真模型按 yosys 的驱动方式写出，所以每个开源后端都能跑综合后网表仿真。Artix-7 后端已写好，等 Vivado 装上器件文件即启用。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90E2"/>
                </a:solidFill>
                <a:latin typeface="Menlo"/>
              </a:rPr>
              <a:t>10 · 可信 · 交付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CECE6"/>
                </a:solidFill>
                <a:latin typeface="PingFang SC"/>
              </a:rPr>
              <a:t>可信与交付：让结论可证明，让结果能直接用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▣ silicon-agent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10512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4C759"/>
                </a:solidFill>
                <a:latin typeface="PingFang SC"/>
              </a:rPr>
              <a:t>形式等价（SymbiYosys BMC）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49926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A89F"/>
                </a:solidFill>
                <a:latin typeface="PingFang SC"/>
              </a:rPr>
              <a:t>miter 把「实测过的 RTL」和「同一 IR 的重新生成」接同一组自由输入，逐拍断言所有输出相等；外加流形协议性质（复位期间无 valid、无握手撤回）。正/负对照都验证过：篡改一份就 FAIL。生成器重构从此有闸门。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810512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4C759"/>
                </a:solidFill>
                <a:latin typeface="PingFang SC"/>
              </a:rPr>
              <a:t>功能覆盖率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212848"/>
            <a:ext cx="49926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A89F"/>
                </a:solidFill>
                <a:latin typeface="PingFang SC"/>
              </a:rPr>
              <a:t>每个 cocotb 测试上报命名 bins（背靠背 / 间隔 / 反压停顿 / 极值操作数 / 帧重启…）进 sim_coverage；「仿真通过」会说明到底练了什么。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27248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291840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4C759"/>
                </a:solidFill>
                <a:latin typeface="PingFang SC"/>
              </a:rPr>
              <a:t>每晚回归 + 退化告警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694176"/>
            <a:ext cx="49926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A89F"/>
                </a:solidFill>
                <a:latin typeface="PingFang SC"/>
              </a:rPr>
              <a:t>14 个固定规格 × 期望（可行 / 几轮内可行），03:17 由 cron 在 EDA 主机上跑开源后端，与上一份报告逐例比对，退化即标红（/api/bench）。多种子 Fmax：3 个种子取中位数并显示区间。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127248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3291840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A90E2"/>
                </a:solidFill>
                <a:latin typeface="PingFang SC"/>
              </a:rPr>
              <a:t>停机必须给证据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3694176"/>
            <a:ext cx="49926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A89F"/>
                </a:solidFill>
                <a:latin typeface="PingFang SC"/>
              </a:rPr>
              <a:t>规划器只能带着 stop_reason 停：触到了哪个上界（DSP 上限、累加位宽下限、乘法器本征级）。叙述里直接说「为什么停」；候选并行评估时，次优点也进历史。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08576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773168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A90E2"/>
                </a:solidFill>
                <a:latin typeface="PingFang SC"/>
              </a:rPr>
              <a:t>跨运行 Pareto + 功耗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175504"/>
            <a:ext cx="49926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A89F"/>
                </a:solidFill>
                <a:latin typeface="PingFang SC"/>
              </a:rPr>
              <a:t>同一设计在同一芯片上的所有实测点取非支配集，「≥180 MHz、≤32 DSP 最好能到多少」从实测点回答；Vivado report_power → power_mw 可作约束与目标。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608576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4773168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95926"/>
                </a:solidFill>
                <a:latin typeface="PingFang SC"/>
              </a:rPr>
              <a:t>交付包 + 板级工程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5175504"/>
            <a:ext cx="49926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A89F"/>
                </a:solidFill>
                <a:latin typeface="PingFang SC"/>
              </a:rPr>
              <a:t>zip：RTL + AXI4-Stream 包装（FIR 可带 AXI4-Lite 系数端口）+ 自检向量 testbench + 工具报告 + 轨迹 + README + create_vivado.tcl/XDC 或 build_oss.sh。拖进 IP Integrator 就能用。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90E2"/>
                </a:solidFill>
                <a:latin typeface="Menlo"/>
              </a:rPr>
              <a:t>11 · 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CECE6"/>
                </a:solidFill>
                <a:latin typeface="PingFang SC"/>
              </a:rPr>
              <a:t>和最新文献的关系：我们把「意图 IR + 真实 EDA 反馈 + 经验池」做成了产品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▣ silicon-agent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11064240" cy="1024128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90E2"/>
                </a:solidFill>
                <a:latin typeface="Menlo"/>
              </a:rPr>
              <a:t>HINT (arXiv 2608.07625)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755648"/>
            <a:ext cx="3931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A9A89F"/>
                </a:solidFill>
                <a:latin typeface="PingFang SC"/>
              </a:rPr>
              <a:t>规格与 RTL 之间插一层可执行的「硬件意图」IR，RTL 前就能检查；7/7 可综合，面积比手写低 5–26%。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755648"/>
            <a:ext cx="3840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4C759"/>
                </a:solidFill>
                <a:latin typeface="PingFang SC"/>
              </a:rPr>
              <a:t>→ </a:t>
            </a:r>
            <a:r>
              <a:rPr sz="1050" b="0">
                <a:solidFill>
                  <a:srgbClr val="ECECE6"/>
                </a:solidFill>
                <a:latin typeface="PingFang SC"/>
              </a:rPr>
              <a:t>我们的架构 IR 就是这一层——但它只有十几个旋钮，由确定性生成器落地，正确性靠构造而非检查。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11064240" cy="1024128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52928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90E2"/>
                </a:solidFill>
                <a:latin typeface="Menlo"/>
              </a:rPr>
              <a:t>RTLScout (Huawei, 2606.06530)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852928"/>
            <a:ext cx="3931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A9A89F"/>
                </a:solidFill>
                <a:latin typeface="PingFang SC"/>
              </a:rPr>
              <a:t>ReAct 智能体 + Yosys/OpenROAD 反馈，多次运行共享精英池和「经验」，FP16 乘法器面积 −35%、延迟 −45%。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852928"/>
            <a:ext cx="3840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4C759"/>
                </a:solidFill>
                <a:latin typeface="PingFang SC"/>
              </a:rPr>
              <a:t>→ </a:t>
            </a:r>
            <a:r>
              <a:rPr sz="1050" b="0">
                <a:solidFill>
                  <a:srgbClr val="ECECE6"/>
                </a:solidFill>
                <a:latin typeface="PingFang SC"/>
              </a:rPr>
              <a:t>设计记忆 = 他们的 lessons，但每条带情境/动作/实测效果，并由后续运行自动确认或推翻。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11064240" cy="1024128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950208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90E2"/>
                </a:solidFill>
                <a:latin typeface="Menlo"/>
              </a:rPr>
              <a:t>REvolution (ASP-DAC 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950208"/>
            <a:ext cx="3931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A9A89F"/>
                </a:solidFill>
                <a:latin typeface="PingFang SC"/>
              </a:rPr>
              <a:t>进化算法 + LLM：种群、Thought/Code/Feedback 三元组、六种提示算子、PPA 适应度；VerilogEval 95.5%。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950208"/>
            <a:ext cx="3840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4C759"/>
                </a:solidFill>
                <a:latin typeface="PingFang SC"/>
              </a:rPr>
              <a:t>→ </a:t>
            </a:r>
            <a:r>
              <a:rPr sz="1050" b="0">
                <a:solidFill>
                  <a:srgbClr val="ECECE6"/>
                </a:solidFill>
                <a:latin typeface="PingFang SC"/>
              </a:rPr>
              <a:t>我们每轮取 ≤3 候选、闭式估算筛选只送 1 个进 EDA——在真实 P&amp;R 每轮分钟级的预算下比种群更省。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937760"/>
            <a:ext cx="11064240" cy="1024128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47488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90E2"/>
                </a:solidFill>
                <a:latin typeface="Menlo"/>
              </a:rPr>
              <a:t>CRADLE / ResBench (2025)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5047488"/>
            <a:ext cx="3931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A9A89F"/>
                </a:solidFill>
                <a:latin typeface="PingFang SC"/>
              </a:rPr>
              <a:t>多智能体会话式 DSE 面向 FPGA 资源目标；ResBench 是首个资源感知的 FPGA 生成基准（56 题）。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047488"/>
            <a:ext cx="3840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4C759"/>
                </a:solidFill>
                <a:latin typeface="PingFang SC"/>
              </a:rPr>
              <a:t>→ </a:t>
            </a:r>
            <a:r>
              <a:rPr sz="1050" b="0">
                <a:solidFill>
                  <a:srgbClr val="ECECE6"/>
                </a:solidFill>
                <a:latin typeface="PingFang SC"/>
              </a:rPr>
              <a:t>我们的基准集是任务级（约束 + 期望轮数），衡量的是「闭环能否收敛」而不是单次生成。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F6E67"/>
                </a:solidFill>
                <a:latin typeface="PingFang SC"/>
              </a:rPr>
              <a:t>共同结论：LLM 的价值来自「推理 + 外部定量反馈」，而不是生成质量本身。我们的反馈是真实布局布线 + 五级仿真，每轮都是。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90E2"/>
                </a:solidFill>
                <a:latin typeface="Menlo"/>
              </a:rPr>
              <a:t>12 · 积累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CECE6"/>
                </a:solidFill>
                <a:latin typeface="PingFang SC"/>
              </a:rPr>
              <a:t>护城河是「实测过的器件事实」，不是提示词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▣ silicon-agent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10512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A90E2"/>
                </a:solidFill>
                <a:latin typeface="Menlo"/>
              </a:rPr>
              <a:t>ECP5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49926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A89F"/>
                </a:solidFill>
                <a:latin typeface="PingFang SC"/>
              </a:rPr>
              <a:t>yosys 永远不会把流水寄存器打包进 MULT18X18D → 必须显式例化并用 REG_* 参数（76 → 147 MHz）。级联口 SRIA/SRIB 悬空否则 nextpnr 路由不了 GND 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4592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810512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A90E2"/>
                </a:solidFill>
                <a:latin typeface="Menlo"/>
              </a:rPr>
              <a:t>XC7S50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2212848"/>
            <a:ext cx="49926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A89F"/>
                </a:solidFill>
                <a:latin typeface="PingFang SC"/>
              </a:rPr>
              <a:t>8×8 乘法需要 (* use_dsp="yes" *) 才进 DSP48E1；pipe_mul&gt;0 会让 Vivado 用 2 个 DSP/PE；DSP48E1 的 M→P 级 2.31 ns 是 277 MHz 天花板，累加器移到 CARRY4 后 299–319 MHz。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27248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291840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A90E2"/>
                </a:solidFill>
                <a:latin typeface="Menlo"/>
              </a:rPr>
              <a:t>FIR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694176"/>
            <a:ext cx="49926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A89F"/>
                </a:solidFill>
                <a:latin typeface="PingFang SC"/>
              </a:rPr>
              <a:t>yosys 对行为级乘法会自动常量折叠零系数、共享相等系数——symmetric 旗标没用，除非显式 DSP；Vivado 会把整条转置 FIR 吸进 DSP 级联（495 MHz，1 LUT，45 DSP）。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127248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3291840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A90E2"/>
                </a:solidFill>
                <a:latin typeface="Menlo"/>
              </a:rPr>
              <a:t>仿真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3694176"/>
            <a:ext cx="49926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A89F"/>
                </a:solidFill>
                <a:latin typeface="PingFang SC"/>
              </a:rPr>
              <a:t>glbl.GSR 让触发器保持 100 ns；-transport_int_delays -pulse_r 0 会产生伪 X；ECP5 的 cells_sim.v 重复 include 要去重；yosys 的 DP16KD / Gowin BRAM / MULT 都是黑盒，要按它的驱动方式自建仿真模型。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08576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773168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A90E2"/>
                </a:solidFill>
                <a:latin typeface="Menlo"/>
              </a:rPr>
              <a:t>iCE40 / Gowin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5175504"/>
            <a:ext cx="49926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A89F"/>
                </a:solidFill>
                <a:latin typeface="PingFang SC"/>
              </a:rPr>
              <a:t>nextpnr-ice40 没有 out-of-context → 串行 IO 外壳包住核心再布线；himbächel 必须给引脚约束；synth_gowin 会留下不可放置的 $buf（未驱动的部分总线）→ setundef + opt_clean。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608576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4773168"/>
            <a:ext cx="49926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4A90E2"/>
                </a:solidFill>
                <a:latin typeface="Menlo"/>
              </a:rPr>
              <a:t>LLM 的坏习惯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5175504"/>
            <a:ext cx="49926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9A89F"/>
                </a:solidFill>
                <a:latin typeface="PingFang SC"/>
              </a:rPr>
              <a:t>为了最小化 LUT 把 INT8 改成 INT4（→ locked）；把 1×1 PE 当成「省资源」（→ 吞吐优先的解释规则）；把 160 MHz 擅自加到 170（→ 按原话取数）。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F6E67"/>
                </a:solidFill>
                <a:latin typeface="PingFang SC"/>
              </a:rPr>
              <a:t>这些都写进了规划器的「器件事实」提示和设计记忆——每一条都附带实测数字。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90E2"/>
                </a:solidFill>
                <a:latin typeface="Menlo"/>
              </a:rPr>
              <a:t>12b · 扩展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CECE6"/>
                </a:solidFill>
                <a:latin typeface="PingFang SC"/>
              </a:rPr>
              <a:t>更 versatile：智能体改自己的生成器、用户自带 RTL、ASIC 标准单元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▣ silicon-agent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10512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智能体改生成器（author 模式）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3163824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AGH 里一个独立会话（author 配方，可写/可执行）在 silicon_agent/ 的草稿副本上改代码，sa_check 用真实工具链试跑，sa_propose 提交 diff。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作业服务器门禁：所有预设可发射/展开、bench 用例行为仿真、未改 IR 形式等价、测试台变异分数不降、再在改过的生成器上实跑 A/B。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34C759"/>
                </a:solidFill>
                <a:latin typeface="PingFang SC"/>
              </a:rPr>
              <a:t>第一个提案：智能体给 CORDIC 加了 reg_out 旋钮，门禁 4/4 通过，A/B 实测 202 MHz。合并仍由人决定。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4592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810512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用户自带 RTL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212848"/>
            <a:ext cx="3163824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上传 SystemVerilog + 自检测试台 + 允许调的参数，注册成 rtl:&lt;id&gt;；同一条阶梯：用户的台跑行为级和每一级网表，综合、布局布线、形式属性。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流水线改动用 transfer-level 等价（允许延迟偏移）证明两组参数功能相同。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34C759"/>
                </a:solidFill>
                <a:latin typeface="PingFang SC"/>
              </a:rPr>
              <a:t>聊天里一个 ＋ 按钮附加 .sv 文件，智能体自己写台、注册、跑。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1810512"/>
            <a:ext cx="316382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CECE6"/>
                </a:solidFill>
                <a:latin typeface="PingFang SC"/>
              </a:rPr>
              <a:t>ASIC：sky130 + OpenROAD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212848"/>
            <a:ext cx="3163824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OpenROAD-flow-scripts 跑在独立容器里，队列目录耦合；指标变成标准单元数、面积 µm²、功耗、STA 关键路径（fa_1/ha_1 进位链）。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>综合后与布线后网表都用 sky130_fd_sc_hd 功能模型跑向量台；交付包含 GDS。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A9A89F"/>
                </a:solidFill>
                <a:latin typeface="PingFang SC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34C759"/>
                </a:solidFill>
                <a:latin typeface="PingFang SC"/>
              </a:rPr>
              <a:t>首个实测：16 阶 FIR 207.8 MHz、1833 单元、22.2k µm²、7.4 mW，规划器自己从 3698 单元收敛到 1833。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A9A89F"/>
                </a:solidFill>
                <a:latin typeface="PingFang SC"/>
              </a:rPr>
              <a:t>同一轮还加了：decim / nco / iir 三个生成器（DDC = nco→decim→fir 一张图）、GP 代理模型排序候选、设计空间扫描卡、每次运行的变异分数、MCP 服务器。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4A90E2"/>
                </a:solidFill>
                <a:latin typeface="Menlo"/>
              </a:rPr>
              <a:t>13 · 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CECE6"/>
                </a:solidFill>
                <a:latin typeface="PingFang SC"/>
              </a:rPr>
              <a:t>路线图：本周做完的，和下一步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F6E67"/>
                </a:solidFill>
                <a:latin typeface="Menlo"/>
              </a:rPr>
              <a:t>▣ silicon-agent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3566160" cy="73152"/>
          </a:xfrm>
          <a:prstGeom prst="rect">
            <a:avLst/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7451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34C759"/>
                </a:solidFill>
                <a:latin typeface="PingFang SC"/>
              </a:rPr>
              <a:t>已完成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3172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✓ 6 种后端：ECP5 / Spartan-7 / iCE40 / Gowin / GateMate / sky130 ASIC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✓ 10 类生成器 + 用户自带 RTL；DDC 级联一张图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✓ 智能体改生成器：门禁（发射/仿真/形式等价/变异分数）+ A/B，人合并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✓ GP 代理模型 + 设计空间扫描 + 每次运行变异分数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✓ AGH 底座：快/深思/author 三种模式、账本、重启续接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✓ MCP 服务器：Claude Code 直接调用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566160" cy="73152"/>
          </a:xfrm>
          <a:prstGeom prst="rect">
            <a:avLst/>
          </a:prstGeom>
          <a:solidFill>
            <a:srgbClr val="4A9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7451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4A90E2"/>
                </a:solidFill>
                <a:latin typeface="PingFang SC"/>
              </a:rPr>
              <a:t>下一步 · 扩大空间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33172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• Artix-7 / UltraScale+：装上 Vivado 器件文件即启用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• 让智能体写全新生成器：RTL 与参考模型分两个会话写、互相校验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• 更多节点：CIC、池化、im2col+matmul 卷积层、CRC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• 多模型规划器对照进每晚回归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645920"/>
            <a:ext cx="3566160" cy="4572000"/>
          </a:xfrm>
          <a:prstGeom prst="roundRect">
            <a:avLst>
              <a:gd name="adj" fmla="val 6000"/>
            </a:avLst>
          </a:prstGeom>
          <a:solidFill>
            <a:srgbClr val="1C1C1B"/>
          </a:solidFill>
          <a:ln w="9525">
            <a:solidFill>
              <a:srgbClr val="3333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9" y="1645920"/>
            <a:ext cx="3566160" cy="73152"/>
          </a:xfrm>
          <a:prstGeom prst="rect">
            <a:avLst/>
          </a:prstGeom>
          <a:solidFill>
            <a:srgbClr val="D9A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874519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9A21B"/>
                </a:solidFill>
                <a:latin typeface="PingFang SC"/>
              </a:rPr>
              <a:t>更远 · 平台化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2331720"/>
            <a:ext cx="32004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• 有板后：ILA/VIO 在板验证作为第六级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• 开放 IR 规范（/schema 已导出），让外部生成器接入；设计记忆跨用户共享（可审计）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• 形式等价扩展到跨 IR（折叠 vs 展开同一滤波器）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A9A89F"/>
                </a:solidFill>
                <a:latin typeface="PingFang SC"/>
              </a:rPr>
              <a:t>• 从 SDF 时序仿真到门级功耗估计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ECECE6"/>
                </a:solidFill>
                <a:latin typeface="PingFang SC"/>
              </a:rPr>
              <a:t>说一句话，拿到签核过的 Verilog。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A9A89F"/>
                </a:solidFill>
                <a:latin typeface="PingFang SC"/>
              </a:rPr>
              <a:t>• 10 类生成器 + 自带 RTL × 6 种后端（含 sky130 ASIC），真实器件上签核；最高 319.5 MHz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A9A89F"/>
                </a:solidFill>
                <a:latin typeface="PingFang SC"/>
              </a:rPr>
              <a:t>• 五级仿真阶梯 + 形式等价 + 变异分数：没有一个估算数字进结论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A9A89F"/>
                </a:solidFill>
                <a:latin typeface="PingFang SC"/>
              </a:rPr>
              <a:t>• 智能体跑在 Agnes Harness 上，并且能在门禁下改自己的生成器——两个旋钮已经由它提出、实测、合并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A9A89F"/>
                </a:solidFill>
                <a:latin typeface="PingFang SC"/>
              </a:rPr>
              <a:t>• 每晚回归；交付包含 AXI-Stream 包装、板级工程、ASIC 的 GDS；MCP 服务器给别的智能体用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669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A90E2"/>
                </a:solidFill>
                <a:latin typeface="Menlo"/>
              </a:rPr>
              <a:t>https://silicon.w33d.xyz   ·   ~/Playground/silicon-agent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